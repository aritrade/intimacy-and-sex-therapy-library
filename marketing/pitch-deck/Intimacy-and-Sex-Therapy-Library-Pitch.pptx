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96A4B"/>
                </a:solidFill>
                <a:latin typeface="Helvetica Neue"/>
              </a:rPr>
              <a:t>AN EVIDENCE-GROUNDED, CLINICIAN-CURATED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>
                <a:solidFill>
                  <a:srgbClr val="14100E"/>
                </a:solidFill>
                <a:latin typeface="Georgia"/>
              </a:rPr>
              <a:t>Intimacy &amp; Sex Therapy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3A332E"/>
                </a:solidFill>
                <a:latin typeface="Georgia"/>
              </a:rPr>
              <a:t>A non-monetised, India-focused reference library that turns</a:t>
            </a:r>
          </a:p>
          <a:p>
            <a:pPr algn="l"/>
            <a:r>
              <a:rPr sz="2200" b="0">
                <a:solidFill>
                  <a:srgbClr val="3A332E"/>
                </a:solidFill>
                <a:latin typeface="Georgia"/>
              </a:rPr>
              <a:t>peer-reviewed sex-therapy research into plain language adults</a:t>
            </a:r>
          </a:p>
          <a:p>
            <a:pPr algn="l"/>
            <a:r>
              <a:rPr sz="2200" b="0">
                <a:solidFill>
                  <a:srgbClr val="3A332E"/>
                </a:solidFill>
                <a:latin typeface="Georgia"/>
              </a:rPr>
              <a:t>and their clinicians can actually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8C847F"/>
                </a:solidFill>
                <a:latin typeface="Helvetica Neue"/>
              </a:rPr>
              <a:t>intimacy-and-sex-therapy-library.vercel.app  ·  Built 2026  ·  Pitch v1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47F"/>
                </a:solidFill>
                <a:latin typeface="Helvetica Neue"/>
              </a:rPr>
              <a:t>Intimacy &amp; Sex Therapy Library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C847F"/>
                </a:solidFill>
                <a:latin typeface="Helvetica Neue"/>
              </a:rP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548640" cy="73152"/>
          </a:xfrm>
          <a:prstGeom prst="rect">
            <a:avLst/>
          </a:prstGeom>
          <a:solidFill>
            <a:srgbClr val="C96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6A4B"/>
                </a:solidFill>
                <a:latin typeface="Helvetica Neue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4100E"/>
                </a:solidFill>
                <a:latin typeface="Georgia"/>
              </a:rPr>
              <a:t>Adults in India can't get accurate sex-health information</a:t>
            </a:r>
          </a:p>
          <a:p>
            <a:pPr algn="l"/>
            <a:r>
              <a:rPr sz="3400" b="1">
                <a:solidFill>
                  <a:srgbClr val="14100E"/>
                </a:solidFill>
                <a:latin typeface="Georgia"/>
              </a:rPr>
              <a:t>from the people who are supposed to provide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2743200" cy="3108960"/>
          </a:xfrm>
          <a:prstGeom prst="roundRect">
            <a:avLst>
              <a:gd name="adj" fmla="val 6000"/>
            </a:avLst>
          </a:prstGeom>
          <a:solidFill>
            <a:srgbClr val="FFFB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C96A4B"/>
                </a:solidFill>
                <a:latin typeface="Georgia"/>
              </a:rPr>
              <a:t>82%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24688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A332E"/>
                </a:solidFill>
                <a:latin typeface="Helvetica Neue"/>
              </a:rPr>
              <a:t>of Indian medical graduates report receiving &lt; 4 hours</a:t>
            </a:r>
          </a:p>
          <a:p>
            <a:pPr algn="l"/>
            <a:r>
              <a:rPr sz="1100" b="0">
                <a:solidFill>
                  <a:srgbClr val="3A332E"/>
                </a:solidFill>
                <a:latin typeface="Helvetica Neue"/>
              </a:rPr>
              <a:t>of sex-education training across all of medical school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9496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47F"/>
                </a:solidFill>
                <a:latin typeface="Helvetica Neue"/>
              </a:rPr>
              <a:t>Source: Indian J Psychiatry, 2019 cross-sectional study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2" y="2788920"/>
            <a:ext cx="2743200" cy="3108960"/>
          </a:xfrm>
          <a:prstGeom prst="roundRect">
            <a:avLst>
              <a:gd name="adj" fmla="val 6000"/>
            </a:avLst>
          </a:prstGeom>
          <a:solidFill>
            <a:srgbClr val="FFFB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297180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C96A4B"/>
                </a:solidFill>
                <a:latin typeface="Georgia"/>
              </a:rPr>
              <a:t>70%+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3931920"/>
            <a:ext cx="24688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A332E"/>
                </a:solidFill>
                <a:latin typeface="Helvetica Neue"/>
              </a:rPr>
              <a:t>of urban Indian couples surveyed by Durex (2017) reported</a:t>
            </a:r>
          </a:p>
          <a:p>
            <a:pPr algn="l"/>
            <a:r>
              <a:rPr sz="1100" b="0">
                <a:solidFill>
                  <a:srgbClr val="3A332E"/>
                </a:solidFill>
                <a:latin typeface="Helvetica Neue"/>
              </a:rPr>
              <a:t>sexual concerns they had never raised with any clinician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539496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47F"/>
                </a:solidFill>
                <a:latin typeface="Helvetica Neue"/>
              </a:rPr>
              <a:t>Source: Durex Global Sex Survey, India sample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3" y="2788920"/>
            <a:ext cx="2743200" cy="3108960"/>
          </a:xfrm>
          <a:prstGeom prst="roundRect">
            <a:avLst>
              <a:gd name="adj" fmla="val 6000"/>
            </a:avLst>
          </a:prstGeom>
          <a:solidFill>
            <a:srgbClr val="FFFB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3" y="297180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C96A4B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3" y="3931920"/>
            <a:ext cx="24688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A332E"/>
                </a:solidFill>
                <a:latin typeface="Helvetica Neue"/>
              </a:rPr>
              <a:t>AASECT-certified sex therapists in all of India (population: 1.4B),</a:t>
            </a:r>
          </a:p>
          <a:p>
            <a:pPr algn="l"/>
            <a:r>
              <a:rPr sz="1100" b="0">
                <a:solidFill>
                  <a:srgbClr val="3A332E"/>
                </a:solidFill>
                <a:latin typeface="Helvetica Neue"/>
              </a:rPr>
              <a:t>vs. ~2,800 in the US (population: 330M)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3" y="539496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47F"/>
                </a:solidFill>
                <a:latin typeface="Helvetica Neue"/>
              </a:rPr>
              <a:t>Source: AASECT public directory, 2024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34856" y="2788920"/>
            <a:ext cx="2743200" cy="3108960"/>
          </a:xfrm>
          <a:prstGeom prst="roundRect">
            <a:avLst>
              <a:gd name="adj" fmla="val 6000"/>
            </a:avLst>
          </a:prstGeom>
          <a:solidFill>
            <a:srgbClr val="FFFB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17736" y="297180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C96A4B"/>
                </a:solidFill>
                <a:latin typeface="Georgia"/>
              </a:rPr>
              <a:t>₹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17736" y="3931920"/>
            <a:ext cx="24688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A332E"/>
                </a:solidFill>
                <a:latin typeface="Helvetica Neue"/>
              </a:rPr>
              <a:t>is what most existing resources actually cost — but they sit</a:t>
            </a:r>
          </a:p>
          <a:p>
            <a:pPr algn="l"/>
            <a:r>
              <a:rPr sz="1100" b="0">
                <a:solidFill>
                  <a:srgbClr val="3A332E"/>
                </a:solidFill>
                <a:latin typeface="Helvetica Neue"/>
              </a:rPr>
              <a:t>behind paywalls, are written in clinical jargon, or come from</a:t>
            </a:r>
          </a:p>
          <a:p>
            <a:pPr algn="l"/>
            <a:r>
              <a:rPr sz="1100" b="0">
                <a:solidFill>
                  <a:srgbClr val="3A332E"/>
                </a:solidFill>
                <a:latin typeface="Helvetica Neue"/>
              </a:rPr>
              <a:t>shame-driven cultural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17736" y="539496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47F"/>
                </a:solidFill>
                <a:latin typeface="Helvetica Neue"/>
              </a:rPr>
              <a:t>Observation from the 2025 competitive landscape scan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47F"/>
                </a:solidFill>
                <a:latin typeface="Helvetica Neue"/>
              </a:rPr>
              <a:t>Intimacy &amp; Sex Therapy Library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C847F"/>
                </a:solidFill>
                <a:latin typeface="Helvetica Neue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548640" cy="73152"/>
          </a:xfrm>
          <a:prstGeom prst="rect">
            <a:avLst/>
          </a:prstGeom>
          <a:solidFill>
            <a:srgbClr val="C96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6A4B"/>
                </a:solidFill>
                <a:latin typeface="Helvetica Neue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4100E"/>
                </a:solidFill>
                <a:latin typeface="Georgia"/>
              </a:rPr>
              <a:t>Three secular shifts make this the moment.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743200"/>
            <a:ext cx="274320" cy="274320"/>
          </a:xfrm>
          <a:prstGeom prst="ellipse">
            <a:avLst/>
          </a:prstGeom>
          <a:solidFill>
            <a:srgbClr val="3F7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4100E"/>
                </a:solidFill>
                <a:latin typeface="Helvetica Neue"/>
              </a:rPr>
              <a:t>Cultural permission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651760"/>
            <a:ext cx="8229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A332E"/>
                </a:solidFill>
                <a:latin typeface="Helvetica Neue"/>
              </a:rPr>
              <a:t>Indian urban audiences (24-45) now consume sex-positive content</a:t>
            </a:r>
          </a:p>
          <a:p>
            <a:pPr algn="l"/>
            <a:r>
              <a:rPr sz="1400" b="0">
                <a:solidFill>
                  <a:srgbClr val="3A332E"/>
                </a:solidFill>
                <a:latin typeface="Helvetica Neue"/>
              </a:rPr>
              <a:t>in English on YouTube and Instagram at scale — and demand sources</a:t>
            </a:r>
          </a:p>
          <a:p>
            <a:pPr algn="l"/>
            <a:r>
              <a:rPr sz="1400" b="0">
                <a:solidFill>
                  <a:srgbClr val="3A332E"/>
                </a:solidFill>
                <a:latin typeface="Helvetica Neue"/>
              </a:rPr>
              <a:t>they can verify against research, not influencers.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931920"/>
            <a:ext cx="274320" cy="274320"/>
          </a:xfrm>
          <a:prstGeom prst="ellipse">
            <a:avLst/>
          </a:prstGeom>
          <a:solidFill>
            <a:srgbClr val="6B46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4100E"/>
                </a:solidFill>
                <a:latin typeface="Helvetica Neue"/>
              </a:rPr>
              <a:t>LLM economics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840480"/>
            <a:ext cx="8229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A332E"/>
                </a:solidFill>
                <a:latin typeface="Helvetica Neue"/>
              </a:rPr>
              <a:t>Plain-language summarisation that cost ₹ 5,000 / paper in 2022</a:t>
            </a:r>
          </a:p>
          <a:p>
            <a:pPr algn="l"/>
            <a:r>
              <a:rPr sz="1400" b="0">
                <a:solidFill>
                  <a:srgbClr val="3A332E"/>
                </a:solidFill>
                <a:latin typeface="Helvetica Neue"/>
              </a:rPr>
              <a:t>now costs &lt;₹ 5 / paper with open-source 70B models on Groq.</a:t>
            </a:r>
          </a:p>
          <a:p>
            <a:pPr algn="l"/>
            <a:r>
              <a:rPr sz="1400" b="0">
                <a:solidFill>
                  <a:srgbClr val="3A332E"/>
                </a:solidFill>
                <a:latin typeface="Helvetica Neue"/>
              </a:rPr>
              <a:t>A clinician's worth of writing is suddenly automatable for cents.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5120640"/>
            <a:ext cx="274320" cy="274320"/>
          </a:xfrm>
          <a:prstGeom prst="ellipse">
            <a:avLst/>
          </a:prstGeom>
          <a:solidFill>
            <a:srgbClr val="C96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0292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4100E"/>
                </a:solidFill>
                <a:latin typeface="Helvetica Neue"/>
              </a:rPr>
              <a:t>Platform tolerance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5029200"/>
            <a:ext cx="8229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A332E"/>
                </a:solidFill>
                <a:latin typeface="Helvetica Neue"/>
              </a:rPr>
              <a:t>Meta and YouTube have moved toward allowing clinician-authored,</a:t>
            </a:r>
          </a:p>
          <a:p>
            <a:pPr algn="l"/>
            <a:r>
              <a:rPr sz="1400" b="0">
                <a:solidFill>
                  <a:srgbClr val="3A332E"/>
                </a:solidFill>
                <a:latin typeface="Helvetica Neue"/>
              </a:rPr>
              <a:t>non-sexualised sex-health content. Reach is still throttled — but</a:t>
            </a:r>
          </a:p>
          <a:p>
            <a:pPr algn="l"/>
            <a:r>
              <a:rPr sz="1400" b="0">
                <a:solidFill>
                  <a:srgbClr val="3A332E"/>
                </a:solidFill>
                <a:latin typeface="Helvetica Neue"/>
              </a:rPr>
              <a:t>well-credentialed, citation-heavy material is no longer auto-banned.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47F"/>
                </a:solidFill>
                <a:latin typeface="Helvetica Neue"/>
              </a:rPr>
              <a:t>Intimacy &amp; Sex Therapy Library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C847F"/>
                </a:solidFill>
                <a:latin typeface="Helvetica Neue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548640" cy="73152"/>
          </a:xfrm>
          <a:prstGeom prst="rect">
            <a:avLst/>
          </a:prstGeom>
          <a:solidFill>
            <a:srgbClr val="C96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6A4B"/>
                </a:solidFill>
                <a:latin typeface="Helvetica Neue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100E"/>
                </a:solidFill>
                <a:latin typeface="Georgia"/>
              </a:rPr>
              <a:t>An autonomous content engine + a clinician-curated catalog.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43200"/>
            <a:ext cx="2743200" cy="3108960"/>
          </a:xfrm>
          <a:prstGeom prst="roundRect">
            <a:avLst>
              <a:gd name="adj" fmla="val 6000"/>
            </a:avLst>
          </a:prstGeom>
          <a:solidFill>
            <a:srgbClr val="FFFB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3F7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99232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BF3"/>
                </a:solidFill>
                <a:latin typeface="Helvetica Neue"/>
              </a:rPr>
              <a:t>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24688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332E"/>
                </a:solidFill>
                <a:latin typeface="Helvetica Neue"/>
              </a:rPr>
              <a:t>Three nightly agents (PubMed,</a:t>
            </a:r>
          </a:p>
          <a:p>
            <a:pPr algn="l"/>
            <a:r>
              <a:rPr sz="1200" b="0">
                <a:solidFill>
                  <a:srgbClr val="3A332E"/>
                </a:solidFill>
                <a:latin typeface="Helvetica Neue"/>
              </a:rPr>
              <a:t>Crossref, Open Library) propose</a:t>
            </a:r>
          </a:p>
          <a:p>
            <a:pPr algn="l"/>
            <a:r>
              <a:rPr sz="1200" b="0">
                <a:solidFill>
                  <a:srgbClr val="3A332E"/>
                </a:solidFill>
                <a:latin typeface="Helvetica Neue"/>
              </a:rPr>
              <a:t>new evidence-grounded resources;</a:t>
            </a:r>
          </a:p>
          <a:p>
            <a:pPr algn="l"/>
            <a:r>
              <a:rPr sz="1200" b="0">
                <a:solidFill>
                  <a:srgbClr val="3A332E"/>
                </a:solidFill>
                <a:latin typeface="Helvetica Neue"/>
              </a:rPr>
              <a:t>clinicians approve in one click.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743200"/>
            <a:ext cx="2743200" cy="3108960"/>
          </a:xfrm>
          <a:prstGeom prst="roundRect">
            <a:avLst>
              <a:gd name="adj" fmla="val 6000"/>
            </a:avLst>
          </a:prstGeom>
          <a:solidFill>
            <a:srgbClr val="FFFB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11880" y="297180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6B46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999232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BF3"/>
                </a:solidFill>
                <a:latin typeface="Helvetica Neue"/>
              </a:rPr>
              <a:t>Writing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611880"/>
            <a:ext cx="24688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332E"/>
                </a:solidFill>
                <a:latin typeface="Helvetica Neue"/>
              </a:rPr>
              <a:t>LLMs draft explainers using a</a:t>
            </a:r>
          </a:p>
          <a:p>
            <a:pPr algn="l"/>
            <a:r>
              <a:rPr sz="1200" b="0">
                <a:solidFill>
                  <a:srgbClr val="3A332E"/>
                </a:solidFill>
                <a:latin typeface="Helvetica Neue"/>
              </a:rPr>
              <a:t>brand + clinical + marketing</a:t>
            </a:r>
          </a:p>
          <a:p>
            <a:pPr algn="l"/>
            <a:r>
              <a:rPr sz="1200" b="0">
                <a:solidFill>
                  <a:srgbClr val="3A332E"/>
                </a:solidFill>
                <a:latin typeface="Helvetica Neue"/>
              </a:rPr>
              <a:t>playbook, then self-critique and</a:t>
            </a:r>
          </a:p>
          <a:p>
            <a:pPr algn="l"/>
            <a:r>
              <a:rPr sz="1200" b="0">
                <a:solidFill>
                  <a:srgbClr val="3A332E"/>
                </a:solidFill>
                <a:latin typeface="Helvetica Neue"/>
              </a:rPr>
              <a:t>rewrite until quality thresholds pass.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2743200"/>
            <a:ext cx="2743200" cy="3108960"/>
          </a:xfrm>
          <a:prstGeom prst="roundRect">
            <a:avLst>
              <a:gd name="adj" fmla="val 6000"/>
            </a:avLst>
          </a:prstGeom>
          <a:solidFill>
            <a:srgbClr val="FFFB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92239" y="297180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C96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39" y="2999232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BF3"/>
                </a:solidFill>
                <a:latin typeface="Helvetica Neue"/>
              </a:rPr>
              <a:t>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39" y="3611880"/>
            <a:ext cx="24688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332E"/>
                </a:solidFill>
                <a:latin typeface="Helvetica Neue"/>
              </a:rPr>
              <a:t>Two-stage human gate: a sex</a:t>
            </a:r>
          </a:p>
          <a:p>
            <a:pPr algn="l"/>
            <a:r>
              <a:rPr sz="1200" b="0">
                <a:solidFill>
                  <a:srgbClr val="3A332E"/>
                </a:solidFill>
                <a:latin typeface="Helvetica Neue"/>
              </a:rPr>
              <a:t>therapist signs off clinically; an</a:t>
            </a:r>
          </a:p>
          <a:p>
            <a:pPr algn="l"/>
            <a:r>
              <a:rPr sz="1200" b="0">
                <a:solidFill>
                  <a:srgbClr val="3A332E"/>
                </a:solidFill>
                <a:latin typeface="Helvetica Neue"/>
              </a:rPr>
              <a:t>editor signs off editorially. No</a:t>
            </a:r>
          </a:p>
          <a:p>
            <a:pPr algn="l"/>
            <a:r>
              <a:rPr sz="1200" b="0">
                <a:solidFill>
                  <a:srgbClr val="3A332E"/>
                </a:solidFill>
                <a:latin typeface="Helvetica Neue"/>
              </a:rPr>
              <a:t>auto-publish, ever.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19" y="2743200"/>
            <a:ext cx="2743200" cy="3108960"/>
          </a:xfrm>
          <a:prstGeom prst="roundRect">
            <a:avLst>
              <a:gd name="adj" fmla="val 6000"/>
            </a:avLst>
          </a:prstGeom>
          <a:solidFill>
            <a:srgbClr val="FFFB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72599" y="297180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1410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599" y="2999232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BF3"/>
                </a:solidFill>
                <a:latin typeface="Helvetica Neue"/>
              </a:rPr>
              <a:t>Distribution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599" y="3611880"/>
            <a:ext cx="24688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332E"/>
                </a:solidFill>
                <a:latin typeface="Helvetica Neue"/>
              </a:rPr>
              <a:t>Renders to YouTube / Instagram /</a:t>
            </a:r>
          </a:p>
          <a:p>
            <a:pPr algn="l"/>
            <a:r>
              <a:rPr sz="1200" b="0">
                <a:solidFill>
                  <a:srgbClr val="3A332E"/>
                </a:solidFill>
                <a:latin typeface="Helvetica Neue"/>
              </a:rPr>
              <a:t>Facebook Reels with consistent</a:t>
            </a:r>
          </a:p>
          <a:p>
            <a:pPr algn="l"/>
            <a:r>
              <a:rPr sz="1200" b="0">
                <a:solidFill>
                  <a:srgbClr val="3A332E"/>
                </a:solidFill>
                <a:latin typeface="Helvetica Neue"/>
              </a:rPr>
              <a:t>voice + portrait; metrics fed back</a:t>
            </a:r>
          </a:p>
          <a:p>
            <a:pPr algn="l"/>
            <a:r>
              <a:rPr sz="1200" b="0">
                <a:solidFill>
                  <a:srgbClr val="3A332E"/>
                </a:solidFill>
                <a:latin typeface="Helvetica Neue"/>
              </a:rPr>
              <a:t>into the writing loop.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47F"/>
                </a:solidFill>
                <a:latin typeface="Helvetica Neue"/>
              </a:rPr>
              <a:t>Intimacy &amp; Sex Therapy Library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C847F"/>
                </a:solidFill>
                <a:latin typeface="Helvetica Neue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548640" cy="73152"/>
          </a:xfrm>
          <a:prstGeom prst="rect">
            <a:avLst/>
          </a:prstGeom>
          <a:solidFill>
            <a:srgbClr val="C96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6A4B"/>
                </a:solidFill>
                <a:latin typeface="Helvetica Neue"/>
              </a:rPr>
              <a:t>WHAT PEOPLE ACTUALLY 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4100E"/>
                </a:solidFill>
                <a:latin typeface="Georgia"/>
              </a:rPr>
              <a:t>A whole product — not just a content feed.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2743200" cy="2743200"/>
          </a:xfrm>
          <a:prstGeom prst="roundRect">
            <a:avLst>
              <a:gd name="adj" fmla="val 6000"/>
            </a:avLst>
          </a:prstGeom>
          <a:solidFill>
            <a:srgbClr val="FFFB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2569464"/>
            <a:ext cx="1143000" cy="146304"/>
          </a:xfrm>
          <a:prstGeom prst="roundRect">
            <a:avLst>
              <a:gd name="adj" fmla="val 50000"/>
            </a:avLst>
          </a:prstGeom>
          <a:solidFill>
            <a:srgbClr val="3F7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898648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4100E"/>
                </a:solidFill>
                <a:latin typeface="Georgia"/>
              </a:rPr>
              <a:t>Library &amp; Discover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657600"/>
            <a:ext cx="23774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332E"/>
                </a:solidFill>
                <a:latin typeface="Helvetica Neue"/>
              </a:rPr>
              <a:t>Curated articles, books and papers, plus an AI guide that finds trustworthy, plain-language reading on any topic.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2" y="2331720"/>
            <a:ext cx="2743200" cy="2743200"/>
          </a:xfrm>
          <a:prstGeom prst="roundRect">
            <a:avLst>
              <a:gd name="adj" fmla="val 6000"/>
            </a:avLst>
          </a:prstGeom>
          <a:solidFill>
            <a:srgbClr val="FFFB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11880" y="2569464"/>
            <a:ext cx="1143000" cy="146304"/>
          </a:xfrm>
          <a:prstGeom prst="roundRect">
            <a:avLst>
              <a:gd name="adj" fmla="val 50000"/>
            </a:avLst>
          </a:prstGeom>
          <a:solidFill>
            <a:srgbClr val="6B46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898648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4100E"/>
                </a:solidFill>
                <a:latin typeface="Georgia"/>
              </a:rPr>
              <a:t>Sahay companion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657600"/>
            <a:ext cx="23774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332E"/>
                </a:solidFill>
                <a:latin typeface="Helvetica Neue"/>
              </a:rPr>
              <a:t>A warm, India-aware chat companion — encrypted at rest, with a zero-knowledge Vault mode and clear clinical guardrails.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3" y="2331720"/>
            <a:ext cx="2743200" cy="2743200"/>
          </a:xfrm>
          <a:prstGeom prst="roundRect">
            <a:avLst>
              <a:gd name="adj" fmla="val 6000"/>
            </a:avLst>
          </a:prstGeom>
          <a:solidFill>
            <a:srgbClr val="FFFB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73951" y="2569464"/>
            <a:ext cx="1143000" cy="146304"/>
          </a:xfrm>
          <a:prstGeom prst="roundRect">
            <a:avLst>
              <a:gd name="adj" fmla="val 50000"/>
            </a:avLst>
          </a:prstGeom>
          <a:solidFill>
            <a:srgbClr val="C96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1" y="2898648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4100E"/>
                </a:solidFill>
                <a:latin typeface="Georgia"/>
              </a:rPr>
              <a:t>Self-assessments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1" y="3657600"/>
            <a:ext cx="23774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332E"/>
                </a:solidFill>
                <a:latin typeface="Helvetica Neue"/>
              </a:rPr>
              <a:t>Validated instruments (PHQ-9, GAD-7, NSSS) scored on the device, with a gentle, non-diagnostic AI reflection.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34856" y="2331720"/>
            <a:ext cx="2743200" cy="2743200"/>
          </a:xfrm>
          <a:prstGeom prst="roundRect">
            <a:avLst>
              <a:gd name="adj" fmla="val 6000"/>
            </a:avLst>
          </a:prstGeom>
          <a:solidFill>
            <a:srgbClr val="FFFB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36024" y="2569464"/>
            <a:ext cx="1143000" cy="146304"/>
          </a:xfrm>
          <a:prstGeom prst="roundRect">
            <a:avLst>
              <a:gd name="adj" fmla="val 50000"/>
            </a:avLst>
          </a:prstGeom>
          <a:solidFill>
            <a:srgbClr val="3F7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6024" y="2898648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4100E"/>
                </a:solidFill>
                <a:latin typeface="Georgia"/>
              </a:rPr>
              <a:t>Find Help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6024" y="3657600"/>
            <a:ext cx="23774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332E"/>
                </a:solidFill>
                <a:latin typeface="Helvetica Neue"/>
              </a:rPr>
              <a:t>A real-time hub of clinicians plus affirming, LGBTQ+ and asexual-friendly communities, surfaced near the user.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94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332E"/>
                </a:solidFill>
                <a:latin typeface="Georgia"/>
              </a:rPr>
              <a:t>Private by default: encrypted conversations, a zero-knowledge Vault, no tracking cookies and no data sale —</a:t>
            </a:r>
          </a:p>
          <a:p>
            <a:pPr algn="l"/>
            <a:r>
              <a:rPr sz="1300" b="0">
                <a:solidFill>
                  <a:srgbClr val="3A332E"/>
                </a:solidFill>
                <a:latin typeface="Georgia"/>
              </a:rPr>
              <a:t>and every resource is clinician-reviewed before it goes live, with a public model card on the AI's limits.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47F"/>
                </a:solidFill>
                <a:latin typeface="Helvetica Neue"/>
              </a:rPr>
              <a:t>Intimacy &amp; Sex Therapy Library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C847F"/>
                </a:solidFill>
                <a:latin typeface="Helvetica Neue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548640" cy="73152"/>
          </a:xfrm>
          <a:prstGeom prst="rect">
            <a:avLst/>
          </a:prstGeom>
          <a:solidFill>
            <a:srgbClr val="C96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6A4B"/>
                </a:solidFill>
                <a:latin typeface="Helvetica Neue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4100E"/>
                </a:solidFill>
                <a:latin typeface="Georgia"/>
              </a:rPr>
              <a:t>End-to-end pipeline, fully automated except the two human gates.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640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96A4B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65176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100E"/>
                </a:solidFill>
                <a:latin typeface="Helvetica Neue"/>
              </a:rPr>
              <a:t>Discover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65176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A332E"/>
                </a:solidFill>
                <a:latin typeface="Helvetica Neue"/>
              </a:rPr>
              <a:t>Nightly agent scans PubMed + Crossref + Open Library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640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96A4B"/>
                </a:solidFill>
                <a:latin typeface="Georg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20040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100E"/>
                </a:solidFill>
                <a:latin typeface="Helvetica Neue"/>
              </a:rPr>
              <a:t>Draft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20040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A332E"/>
                </a:solidFill>
                <a:latin typeface="Helvetica Neue"/>
              </a:rPr>
              <a:t>Groq Llama-3-70B writes a clinical, brand-aware 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40"/>
            <a:ext cx="640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96A4B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74904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100E"/>
                </a:solidFill>
                <a:latin typeface="Helvetica Neue"/>
              </a:rPr>
              <a:t>Critique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74904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A332E"/>
                </a:solidFill>
                <a:latin typeface="Helvetica Neue"/>
              </a:rPr>
              <a:t>LLM grades its own work on 4 axes; rewrites if any fall below 7/10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97679"/>
            <a:ext cx="640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96A4B"/>
                </a:solidFill>
                <a:latin typeface="Georgia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297679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100E"/>
                </a:solidFill>
                <a:latin typeface="Helvetica Neue"/>
              </a:rPr>
              <a:t>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297679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A332E"/>
                </a:solidFill>
                <a:latin typeface="Helvetica Neue"/>
              </a:rPr>
              <a:t>Sex therapist + editor approve via /admin/queue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640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96A4B"/>
                </a:solidFill>
                <a:latin typeface="Georgia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84632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100E"/>
                </a:solidFill>
                <a:latin typeface="Helvetica Neue"/>
              </a:rPr>
              <a:t>Render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84632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A332E"/>
                </a:solidFill>
                <a:latin typeface="Helvetica Neue"/>
              </a:rPr>
              <a:t>Remotion on GitHub Actions: stock photos + Edge TTS + captions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94960"/>
            <a:ext cx="640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96A4B"/>
                </a:solidFill>
                <a:latin typeface="Georgia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39496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100E"/>
                </a:solidFill>
                <a:latin typeface="Helvetica Neue"/>
              </a:rPr>
              <a:t>Publish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539496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A332E"/>
                </a:solidFill>
                <a:latin typeface="Helvetica Neue"/>
              </a:rPr>
              <a:t>Human clicks publish; we post to IG / YT / FB with retry + 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943599"/>
            <a:ext cx="640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96A4B"/>
                </a:solidFill>
                <a:latin typeface="Georgia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943599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100E"/>
                </a:solidFill>
                <a:latin typeface="Helvetica Neue"/>
              </a:rPr>
              <a:t>Measure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5943599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A332E"/>
                </a:solidFill>
                <a:latin typeface="Helvetica Neue"/>
              </a:rPr>
              <a:t>Weekly poll pulls views, likes, follower deltas; feeds /admin/analytics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47F"/>
                </a:solidFill>
                <a:latin typeface="Helvetica Neue"/>
              </a:rPr>
              <a:t>Intimacy &amp; Sex Therapy Library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C847F"/>
                </a:solidFill>
                <a:latin typeface="Helvetica Neue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548640" cy="73152"/>
          </a:xfrm>
          <a:prstGeom prst="rect">
            <a:avLst/>
          </a:prstGeom>
          <a:solidFill>
            <a:srgbClr val="C96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6A4B"/>
                </a:solidFill>
                <a:latin typeface="Helvetica Neue"/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4100E"/>
                </a:solidFill>
                <a:latin typeface="Georgia"/>
              </a:rPr>
              <a:t>Mac-free. Workstation-free. Serverless-first, with one escape hatch.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770632"/>
            <a:ext cx="128016" cy="128016"/>
          </a:xfrm>
          <a:prstGeom prst="ellipse">
            <a:avLst/>
          </a:prstGeom>
          <a:solidFill>
            <a:srgbClr val="3F7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100E"/>
                </a:solidFill>
                <a:latin typeface="Helvetica Neue"/>
              </a:rPr>
              <a:t>App + APIs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6517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332E"/>
                </a:solidFill>
                <a:latin typeface="Helvetica Neue"/>
              </a:rPr>
              <a:t>Next.js 14 on Vercel (Mumbai region)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136392"/>
            <a:ext cx="128016" cy="128016"/>
          </a:xfrm>
          <a:prstGeom prst="ellipse">
            <a:avLst/>
          </a:prstGeom>
          <a:solidFill>
            <a:srgbClr val="6B46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100E"/>
                </a:solidFill>
                <a:latin typeface="Helvetica Neue"/>
              </a:rPr>
              <a:t>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017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332E"/>
                </a:solidFill>
                <a:latin typeface="Helvetica Neue"/>
              </a:rPr>
              <a:t>Neon Postgres + Drizzle ORM + Drizzle migrations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02152"/>
            <a:ext cx="128016" cy="128016"/>
          </a:xfrm>
          <a:prstGeom prst="ellipse">
            <a:avLst/>
          </a:prstGeom>
          <a:solidFill>
            <a:srgbClr val="C96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832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100E"/>
                </a:solidFill>
                <a:latin typeface="Helvetica Neue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3832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332E"/>
                </a:solidFill>
                <a:latin typeface="Helvetica Neue"/>
              </a:rPr>
              <a:t>Auth.js v5 (magic link + Google OAuth) + role-based gates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867912"/>
            <a:ext cx="128016" cy="128016"/>
          </a:xfrm>
          <a:prstGeom prst="ellipse">
            <a:avLst/>
          </a:prstGeom>
          <a:solidFill>
            <a:srgbClr val="3F7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490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100E"/>
                </a:solidFill>
                <a:latin typeface="Helvetica Neue"/>
              </a:rPr>
              <a:t>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7490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332E"/>
                </a:solidFill>
                <a:latin typeface="Helvetica Neue"/>
              </a:rPr>
              <a:t>Groq Llama-3-70B (primary) → Anthropic Claude Sonnet (fallback)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233672"/>
            <a:ext cx="128016" cy="128016"/>
          </a:xfrm>
          <a:prstGeom prst="ellipse">
            <a:avLst/>
          </a:prstGeom>
          <a:solidFill>
            <a:srgbClr val="6B46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100E"/>
                </a:solidFill>
                <a:latin typeface="Helvetica Neue"/>
              </a:rPr>
              <a:t>Voice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1148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332E"/>
                </a:solidFill>
                <a:latin typeface="Helvetica Neue"/>
              </a:rPr>
              <a:t>Microsoft Edge TTS (en-US-JennyNeural, no API key required)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599432"/>
            <a:ext cx="128016" cy="128016"/>
          </a:xfrm>
          <a:prstGeom prst="ellipse">
            <a:avLst/>
          </a:prstGeom>
          <a:solidFill>
            <a:srgbClr val="C96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4805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100E"/>
                </a:solidFill>
                <a:latin typeface="Helvetica Neue"/>
              </a:rPr>
              <a:t>Video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44805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332E"/>
                </a:solidFill>
                <a:latin typeface="Helvetica Neue"/>
              </a:rPr>
              <a:t>Remotion + FFmpeg on GitHub Actions runners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4965192"/>
            <a:ext cx="128016" cy="128016"/>
          </a:xfrm>
          <a:prstGeom prst="ellipse">
            <a:avLst/>
          </a:prstGeom>
          <a:solidFill>
            <a:srgbClr val="3F7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463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100E"/>
                </a:solidFill>
                <a:latin typeface="Helvetica Neue"/>
              </a:rPr>
              <a:t>Storage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4846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332E"/>
                </a:solidFill>
                <a:latin typeface="Helvetica Neue"/>
              </a:rPr>
              <a:t>Vercel Blob (Mumbai edge cache) — no local FS dependencies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5330952"/>
            <a:ext cx="128016" cy="128016"/>
          </a:xfrm>
          <a:prstGeom prst="ellipse">
            <a:avLst/>
          </a:prstGeom>
          <a:solidFill>
            <a:srgbClr val="6B46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2120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100E"/>
                </a:solidFill>
                <a:latin typeface="Helvetica Neue"/>
              </a:rPr>
              <a:t>Schedules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52120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332E"/>
                </a:solidFill>
                <a:latin typeface="Helvetica Neue"/>
              </a:rPr>
              <a:t>3 Vercel crons (daily) + 4 GitHub Actions workflows (hourly/nightly)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" y="5696712"/>
            <a:ext cx="128016" cy="128016"/>
          </a:xfrm>
          <a:prstGeom prst="ellipse">
            <a:avLst/>
          </a:prstGeom>
          <a:solidFill>
            <a:srgbClr val="C96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5778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100E"/>
                </a:solidFill>
                <a:latin typeface="Helvetica Neue"/>
              </a:rPr>
              <a:t>Publishing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55778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332E"/>
                </a:solidFill>
                <a:latin typeface="Helvetica Neue"/>
              </a:rPr>
              <a:t>Meta Graph API v22 (IG / FB Reels) + YouTube Data API v3 OAuth2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" y="6062472"/>
            <a:ext cx="128016" cy="128016"/>
          </a:xfrm>
          <a:prstGeom prst="ellipse">
            <a:avLst/>
          </a:prstGeom>
          <a:solidFill>
            <a:srgbClr val="3F7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9436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100E"/>
                </a:solidFill>
                <a:latin typeface="Helvetica Neue"/>
              </a:rPr>
              <a:t>Observability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59436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332E"/>
                </a:solidFill>
                <a:latin typeface="Helvetica Neue"/>
              </a:rPr>
              <a:t>Audit log (PII-scrubbed) + Plausible + Vercel Web Analytics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47F"/>
                </a:solidFill>
                <a:latin typeface="Helvetica Neue"/>
              </a:rPr>
              <a:t>Intimacy &amp; Sex Therapy Library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C847F"/>
                </a:solidFill>
                <a:latin typeface="Helvetica Neue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548640" cy="73152"/>
          </a:xfrm>
          <a:prstGeom prst="rect">
            <a:avLst/>
          </a:prstGeom>
          <a:solidFill>
            <a:srgbClr val="C96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6A4B"/>
                </a:solidFill>
                <a:latin typeface="Helvetica Neue"/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4100E"/>
                </a:solidFill>
                <a:latin typeface="Georgia"/>
              </a:rPr>
              <a:t>Big TAM, near-zero credible supply.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51760"/>
            <a:ext cx="2743200" cy="3108960"/>
          </a:xfrm>
          <a:prstGeom prst="roundRect">
            <a:avLst>
              <a:gd name="adj" fmla="val 6000"/>
            </a:avLst>
          </a:prstGeom>
          <a:solidFill>
            <a:srgbClr val="FFFB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C96A4B"/>
                </a:solidFill>
                <a:latin typeface="Georgia"/>
              </a:rPr>
              <a:t>₹ 11,200 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69080"/>
            <a:ext cx="24688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00E"/>
                </a:solidFill>
                <a:latin typeface="Helvetica Neue"/>
              </a:rPr>
              <a:t>Indian online wellness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5780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47F"/>
                </a:solidFill>
                <a:latin typeface="Helvetica Neue"/>
              </a:rPr>
              <a:t>Statista 2024, projected ₹ 21,000 Cr by 2028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651760"/>
            <a:ext cx="2743200" cy="3108960"/>
          </a:xfrm>
          <a:prstGeom prst="roundRect">
            <a:avLst>
              <a:gd name="adj" fmla="val 6000"/>
            </a:avLst>
          </a:prstGeom>
          <a:solidFill>
            <a:srgbClr val="FFFB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926080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C96A4B"/>
                </a:solidFill>
                <a:latin typeface="Georgia"/>
              </a:rPr>
              <a:t>280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4069080"/>
            <a:ext cx="24688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00E"/>
                </a:solidFill>
                <a:latin typeface="Helvetica Neue"/>
              </a:rPr>
              <a:t>English-literate urban Indians 18-45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525780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47F"/>
                </a:solidFill>
                <a:latin typeface="Helvetica Neue"/>
              </a:rPr>
              <a:t>MoSPI 2023 enumeration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2651760"/>
            <a:ext cx="2743200" cy="3108960"/>
          </a:xfrm>
          <a:prstGeom prst="roundRect">
            <a:avLst>
              <a:gd name="adj" fmla="val 6000"/>
            </a:avLst>
          </a:prstGeom>
          <a:solidFill>
            <a:srgbClr val="FFFB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39" y="2926080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C96A4B"/>
                </a:solidFill>
                <a:latin typeface="Georgia"/>
              </a:rPr>
              <a:t>85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39" y="4069080"/>
            <a:ext cx="24688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00E"/>
                </a:solidFill>
                <a:latin typeface="Helvetica Neue"/>
              </a:rPr>
              <a:t>Indian couples in the prime sexual-concern</a:t>
            </a:r>
          </a:p>
          <a:p>
            <a:pPr algn="l"/>
            <a:r>
              <a:rPr sz="1300" b="1">
                <a:solidFill>
                  <a:srgbClr val="14100E"/>
                </a:solidFill>
                <a:latin typeface="Helvetica Neue"/>
              </a:rPr>
              <a:t>cohort (married, 25-45)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39" y="525780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47F"/>
                </a:solidFill>
                <a:latin typeface="Helvetica Neue"/>
              </a:rPr>
              <a:t>Census + NFHS-5 cross-tab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19" y="2651760"/>
            <a:ext cx="2743200" cy="3108960"/>
          </a:xfrm>
          <a:prstGeom prst="roundRect">
            <a:avLst>
              <a:gd name="adj" fmla="val 6000"/>
            </a:avLst>
          </a:prstGeom>
          <a:solidFill>
            <a:srgbClr val="FFFB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599" y="2926080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C96A4B"/>
                </a:solidFill>
                <a:latin typeface="Georgia"/>
              </a:rPr>
              <a:t>12 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599" y="4069080"/>
            <a:ext cx="24688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00E"/>
                </a:solidFill>
                <a:latin typeface="Helvetica Neue"/>
              </a:rPr>
              <a:t>AASECT-aligned content seekers globally</a:t>
            </a:r>
          </a:p>
          <a:p>
            <a:pPr algn="l"/>
            <a:r>
              <a:rPr sz="1300" b="1">
                <a:solidFill>
                  <a:srgbClr val="14100E"/>
                </a:solidFill>
                <a:latin typeface="Helvetica Neue"/>
              </a:rPr>
              <a:t>in English-speaking diaspora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599" y="525780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47F"/>
                </a:solidFill>
                <a:latin typeface="Helvetica Neue"/>
              </a:rPr>
              <a:t>Google Trends + YouTube Studio benchmarks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47F"/>
                </a:solidFill>
                <a:latin typeface="Helvetica Neue"/>
              </a:rPr>
              <a:t>Intimacy &amp; Sex Therapy Library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C847F"/>
                </a:solidFill>
                <a:latin typeface="Helvetica Neue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548640" cy="73152"/>
          </a:xfrm>
          <a:prstGeom prst="rect">
            <a:avLst/>
          </a:prstGeom>
          <a:solidFill>
            <a:srgbClr val="C96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6A4B"/>
                </a:solidFill>
                <a:latin typeface="Helvetica Neue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4100E"/>
                </a:solidFill>
                <a:latin typeface="Georgia"/>
              </a:rPr>
              <a:t>Each existing option fails on at least one of: clinical, local, or free.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4320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FFFB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85292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00E"/>
                </a:solidFill>
                <a:latin typeface="Helvetica Neue"/>
              </a:rPr>
              <a:t>Healthify / Practo blogs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85292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8C847F"/>
                </a:solidFill>
                <a:latin typeface="Helvetica Neue"/>
              </a:rPr>
              <a:t>Local, 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78892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A332E"/>
                </a:solidFill>
                <a:latin typeface="Helvetica Neue"/>
              </a:rPr>
              <a:t>Not clinician-authored;</a:t>
            </a:r>
          </a:p>
          <a:p>
            <a:pPr algn="l"/>
            <a:r>
              <a:rPr sz="1100" b="0">
                <a:solidFill>
                  <a:srgbClr val="3A332E"/>
                </a:solidFill>
                <a:latin typeface="Helvetica Neue"/>
              </a:rPr>
              <a:t>SEO-driven, not evidence-driven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3756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FFFB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44728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00E"/>
                </a:solidFill>
                <a:latin typeface="Helvetica Neue"/>
              </a:rPr>
              <a:t>Mayo Clinic / Cleveland Clinic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344728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8C847F"/>
                </a:solidFill>
                <a:latin typeface="Helvetica Neue"/>
              </a:rPr>
              <a:t>Clinical, free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38328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A332E"/>
                </a:solidFill>
                <a:latin typeface="Helvetica Neue"/>
              </a:rPr>
              <a:t>US-centric framing; pricing,</a:t>
            </a:r>
          </a:p>
          <a:p>
            <a:pPr algn="l"/>
            <a:r>
              <a:rPr sz="1100" b="0">
                <a:solidFill>
                  <a:srgbClr val="3A332E"/>
                </a:solidFill>
                <a:latin typeface="Helvetica Neue"/>
              </a:rPr>
              <a:t>insurance, and norms don't transfer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FFFB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04164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00E"/>
                </a:solidFill>
                <a:latin typeface="Helvetica Neue"/>
              </a:rPr>
              <a:t>Esther Perel / Emily Nagoski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404164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8C847F"/>
                </a:solidFill>
                <a:latin typeface="Helvetica Neue"/>
              </a:rPr>
              <a:t>Clinical, English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97764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A332E"/>
                </a:solidFill>
                <a:latin typeface="Helvetica Neue"/>
              </a:rPr>
              <a:t>Behind paywalls + courses;</a:t>
            </a:r>
          </a:p>
          <a:p>
            <a:pPr algn="l"/>
            <a:r>
              <a:rPr sz="1100" b="0">
                <a:solidFill>
                  <a:srgbClr val="3A332E"/>
                </a:solidFill>
                <a:latin typeface="Helvetica Neue"/>
              </a:rPr>
              <a:t>not India-contextualised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2628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FFFB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63600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00E"/>
                </a:solidFill>
                <a:latin typeface="Helvetica Neue"/>
              </a:rPr>
              <a:t>Reddit / influencer YouTube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463600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8C847F"/>
                </a:solidFill>
                <a:latin typeface="Helvetica Neue"/>
              </a:rPr>
              <a:t>Local, free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57200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A332E"/>
                </a:solidFill>
                <a:latin typeface="Helvetica Neue"/>
              </a:rPr>
              <a:t>Variable accuracy; no review;</a:t>
            </a:r>
          </a:p>
          <a:p>
            <a:pPr algn="l"/>
            <a:r>
              <a:rPr sz="1100" b="0">
                <a:solidFill>
                  <a:srgbClr val="3A332E"/>
                </a:solidFill>
                <a:latin typeface="Helvetica Neue"/>
              </a:rPr>
              <a:t>shame-spiral risk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12064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FD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23036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00E"/>
                </a:solidFill>
                <a:latin typeface="Helvetica Neue"/>
              </a:rPr>
              <a:t>Intimacy &amp; Sex Therapy Library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523036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96A4B"/>
                </a:solidFill>
                <a:latin typeface="Helvetica Neue"/>
              </a:rPr>
              <a:t>Clinical + Local + Free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16636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A332E"/>
                </a:solidFill>
                <a:latin typeface="Helvetica Neue"/>
              </a:rPr>
              <a:t>Citation-backed, AASECT-aligned,</a:t>
            </a:r>
          </a:p>
          <a:p>
            <a:pPr algn="l"/>
            <a:r>
              <a:rPr sz="1100" b="0">
                <a:solidFill>
                  <a:srgbClr val="3A332E"/>
                </a:solidFill>
                <a:latin typeface="Helvetica Neue"/>
              </a:rPr>
              <a:t>India-context, plain-language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47F"/>
                </a:solidFill>
                <a:latin typeface="Helvetica Neue"/>
              </a:rPr>
              <a:t>Intimacy &amp; Sex Therapy Library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C847F"/>
                </a:solidFill>
                <a:latin typeface="Helvetica Neue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548640" cy="73152"/>
          </a:xfrm>
          <a:prstGeom prst="rect">
            <a:avLst/>
          </a:prstGeom>
          <a:solidFill>
            <a:srgbClr val="C96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6A4B"/>
                </a:solidFill>
                <a:latin typeface="Helvetica Neue"/>
              </a:rPr>
              <a:t>WHAT'S BUILT (TODAY)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4100E"/>
                </a:solidFill>
                <a:latin typeface="Georgia"/>
              </a:rPr>
              <a:t>A working v1 in production, not slideware.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724912"/>
            <a:ext cx="274320" cy="274320"/>
          </a:xfrm>
          <a:prstGeom prst="ellipse">
            <a:avLst/>
          </a:prstGeom>
          <a:solidFill>
            <a:srgbClr val="3F7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157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BF3"/>
                </a:solidFill>
                <a:latin typeface="Helvetica Neue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00E"/>
                </a:solidFill>
                <a:latin typeface="Helvetica Neue"/>
              </a:rPr>
              <a:t>Live web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65176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332E"/>
                </a:solidFill>
                <a:latin typeface="Helvetica Neue"/>
              </a:rPr>
              <a:t>intimacy-and-sex-therapy-library.vercel.app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182112"/>
            <a:ext cx="274320" cy="274320"/>
          </a:xfrm>
          <a:prstGeom prst="ellipse">
            <a:avLst/>
          </a:prstGeom>
          <a:solidFill>
            <a:srgbClr val="3F7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729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BF3"/>
                </a:solidFill>
                <a:latin typeface="Helvetica Neue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00E"/>
                </a:solidFill>
                <a:latin typeface="Helvetica Neue"/>
              </a:rPr>
              <a:t>Catalog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10896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332E"/>
                </a:solidFill>
                <a:latin typeface="Helvetica Neue"/>
              </a:rPr>
              <a:t>100+ clinician-vetted resources, allowlist-restricted to 49 tier-1/2 sources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639312"/>
            <a:ext cx="274320" cy="274320"/>
          </a:xfrm>
          <a:prstGeom prst="ellipse">
            <a:avLst/>
          </a:prstGeom>
          <a:solidFill>
            <a:srgbClr val="3F7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301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BF3"/>
                </a:solidFill>
                <a:latin typeface="Helvetica Neue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5661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00E"/>
                </a:solidFill>
                <a:latin typeface="Helvetica Neue"/>
              </a:rPr>
              <a:t>AI surfaces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56616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332E"/>
                </a:solidFill>
                <a:latin typeface="Helvetica Neue"/>
              </a:rPr>
              <a:t>Sahay (RAG chat) + Companion (longer-form) + Decide (assessment flow)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096512"/>
            <a:ext cx="274320" cy="274320"/>
          </a:xfrm>
          <a:prstGeom prst="ellipse">
            <a:avLst/>
          </a:prstGeom>
          <a:solidFill>
            <a:srgbClr val="3F7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0873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BF3"/>
                </a:solidFill>
                <a:latin typeface="Helvetica Neue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0233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00E"/>
                </a:solidFill>
                <a:latin typeface="Helvetica Neue"/>
              </a:rPr>
              <a:t>Autonomous content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02336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332E"/>
                </a:solidFill>
                <a:latin typeface="Helvetica Neue"/>
              </a:rPr>
              <a:t>Daily script gen + render + multi-platform publish + metrics poll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553712"/>
            <a:ext cx="274320" cy="274320"/>
          </a:xfrm>
          <a:prstGeom prst="ellipse">
            <a:avLst/>
          </a:prstGeom>
          <a:solidFill>
            <a:srgbClr val="3F7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445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BF3"/>
                </a:solidFill>
                <a:latin typeface="Helvetica Neue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4805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00E"/>
                </a:solidFill>
                <a:latin typeface="Helvetica Neue"/>
              </a:rPr>
              <a:t>Admin console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48056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332E"/>
                </a:solidFill>
                <a:latin typeface="Helvetica Neue"/>
              </a:rPr>
              <a:t>/admin/queue, /admin/analytics, /admin/feedback, /admin/subscribers, /admin/users, /admin/proposals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5010912"/>
            <a:ext cx="274320" cy="274320"/>
          </a:xfrm>
          <a:prstGeom prst="ellipse">
            <a:avLst/>
          </a:prstGeom>
          <a:solidFill>
            <a:srgbClr val="3F7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0017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BF3"/>
                </a:solidFill>
                <a:latin typeface="Helvetica Neue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9377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00E"/>
                </a:solidFill>
                <a:latin typeface="Helvetica Neue"/>
              </a:rPr>
              <a:t>Role + permission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93776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332E"/>
                </a:solidFill>
                <a:latin typeface="Helvetica Neue"/>
              </a:rPr>
              <a:t>viewer / clinician / editor / admin with invite-by-email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" y="5468112"/>
            <a:ext cx="274320" cy="274320"/>
          </a:xfrm>
          <a:prstGeom prst="ellipse">
            <a:avLst/>
          </a:prstGeom>
          <a:solidFill>
            <a:srgbClr val="3F7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4589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BF3"/>
                </a:solidFill>
                <a:latin typeface="Helvetica Neue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3949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00E"/>
                </a:solidFill>
                <a:latin typeface="Helvetica Neue"/>
              </a:rPr>
              <a:t>Quality gates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9496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332E"/>
                </a:solidFill>
                <a:latin typeface="Helvetica Neue"/>
              </a:rPr>
              <a:t>Adversarial eval harness + Lighthouse a11y CI on every PR</a:t>
            </a:r>
          </a:p>
        </p:txBody>
      </p:sp>
      <p:sp>
        <p:nvSpPr>
          <p:cNvPr id="33" name="Oval 32"/>
          <p:cNvSpPr/>
          <p:nvPr/>
        </p:nvSpPr>
        <p:spPr>
          <a:xfrm>
            <a:off x="640080" y="5925312"/>
            <a:ext cx="274320" cy="274320"/>
          </a:xfrm>
          <a:prstGeom prst="ellipse">
            <a:avLst/>
          </a:prstGeom>
          <a:solidFill>
            <a:srgbClr val="3F7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9161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BF3"/>
                </a:solidFill>
                <a:latin typeface="Helvetica Neue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8521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00E"/>
                </a:solidFill>
                <a:latin typeface="Helvetica Neue"/>
              </a:rPr>
              <a:t>Channels live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585216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332E"/>
                </a:solidFill>
                <a:latin typeface="Helvetica Neue"/>
              </a:rPr>
              <a:t>YouTube @IntimacySexTherapyLibrary  ·  Instagram  ·  Facebook page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47F"/>
                </a:solidFill>
                <a:latin typeface="Helvetica Neue"/>
              </a:rPr>
              <a:t>Intimacy &amp; Sex Therapy Library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C847F"/>
                </a:solidFill>
                <a:latin typeface="Helvetica Neue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548640" cy="73152"/>
          </a:xfrm>
          <a:prstGeom prst="rect">
            <a:avLst/>
          </a:prstGeom>
          <a:solidFill>
            <a:srgbClr val="C96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6A4B"/>
                </a:solidFill>
                <a:latin typeface="Helvetica Neue"/>
              </a:rPr>
              <a:t>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4100E"/>
                </a:solidFill>
                <a:latin typeface="Georgia"/>
              </a:rPr>
              <a:t>Marginal cost of one new explainer: under ₹ 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4100E"/>
                </a:solidFill>
                <a:latin typeface="Helvetica Neue"/>
              </a:rPr>
              <a:t>LLM draft + critique (Groq Llama-3-70B)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651760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>
                <a:solidFill>
                  <a:srgbClr val="14100E"/>
                </a:solidFill>
                <a:latin typeface="Helvetica Neue"/>
              </a:rPr>
              <a:t>₹ 1.20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265176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47F"/>
                </a:solidFill>
                <a:latin typeface="Helvetica Neue"/>
              </a:rPr>
              <a:t>8k input + 2k output 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4100E"/>
                </a:solidFill>
                <a:latin typeface="Helvetica Neue"/>
              </a:rPr>
              <a:t>Edge TTS narration (free)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108960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>
                <a:solidFill>
                  <a:srgbClr val="14100E"/>
                </a:solidFill>
                <a:latin typeface="Helvetica Neue"/>
              </a:rPr>
              <a:t>₹ 0.00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10896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47F"/>
                </a:solidFill>
                <a:latin typeface="Helvetica Neue"/>
              </a:rPr>
              <a:t>Microsoft Edge TTS via public endpoint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4100E"/>
                </a:solidFill>
                <a:latin typeface="Helvetica Neue"/>
              </a:rPr>
              <a:t>Stock images (Pexels + Pixabay free API)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566160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>
                <a:solidFill>
                  <a:srgbClr val="14100E"/>
                </a:solidFill>
                <a:latin typeface="Helvetica Neue"/>
              </a:rPr>
              <a:t>₹ 0.00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56616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47F"/>
                </a:solidFill>
                <a:latin typeface="Helvetica Neue"/>
              </a:rPr>
              <a:t>Allowlist-restricted to clinically appropriate stock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4100E"/>
                </a:solidFill>
                <a:latin typeface="Helvetica Neue"/>
              </a:rPr>
              <a:t>Remotion render (GitHub Actions free tier)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023360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>
                <a:solidFill>
                  <a:srgbClr val="14100E"/>
                </a:solidFill>
                <a:latin typeface="Helvetica Neue"/>
              </a:rPr>
              <a:t>₹ 0.00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02336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47F"/>
                </a:solidFill>
                <a:latin typeface="Helvetica Neue"/>
              </a:rPr>
              <a:t>~3 min compute / item, 2,000 free min/month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8056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4100E"/>
                </a:solidFill>
                <a:latin typeface="Helvetica Neue"/>
              </a:rPr>
              <a:t>Vercel Blob (Mumbai edge cache)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480560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>
                <a:solidFill>
                  <a:srgbClr val="14100E"/>
                </a:solidFill>
                <a:latin typeface="Helvetica Neue"/>
              </a:rPr>
              <a:t>₹ 1.80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48056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47F"/>
                </a:solidFill>
                <a:latin typeface="Helvetica Neue"/>
              </a:rPr>
              <a:t>20 MB per long-form video, 6 GB free tier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93776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4100E"/>
                </a:solidFill>
                <a:latin typeface="Helvetica Neue"/>
              </a:rPr>
              <a:t>Meta + YouTube publish APIs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937760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>
                <a:solidFill>
                  <a:srgbClr val="14100E"/>
                </a:solidFill>
                <a:latin typeface="Helvetica Neue"/>
              </a:rPr>
              <a:t>₹ 0.00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93776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47F"/>
                </a:solidFill>
                <a:latin typeface="Helvetica Neue"/>
              </a:rPr>
              <a:t>Both free for the volumes we operate 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9496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6A4B"/>
                </a:solidFill>
                <a:latin typeface="Helvetica Neue"/>
              </a:rPr>
              <a:t>Total marginal cost / explainer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394960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>
                <a:solidFill>
                  <a:srgbClr val="C96A4B"/>
                </a:solidFill>
                <a:latin typeface="Helvetica Neue"/>
              </a:rPr>
              <a:t>₹ 3.00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39496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47F"/>
                </a:solidFill>
                <a:latin typeface="Helvetica Neue"/>
              </a:rPr>
              <a:t>Compare to ₹ 5,000-15,000 for a freelance clinician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47F"/>
                </a:solidFill>
                <a:latin typeface="Helvetica Neue"/>
              </a:rPr>
              <a:t>Intimacy &amp; Sex Therapy Library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C847F"/>
                </a:solidFill>
                <a:latin typeface="Helvetica Neue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548640" cy="73152"/>
          </a:xfrm>
          <a:prstGeom prst="rect">
            <a:avLst/>
          </a:prstGeom>
          <a:solidFill>
            <a:srgbClr val="C96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6A4B"/>
                </a:solidFill>
                <a:latin typeface="Helvetica Neue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4100E"/>
                </a:solidFill>
                <a:latin typeface="Georgia"/>
              </a:rPr>
              <a:t>Three horizons, all building on what's already shipped.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51760"/>
            <a:ext cx="3657600" cy="3383280"/>
          </a:xfrm>
          <a:prstGeom prst="roundRect">
            <a:avLst>
              <a:gd name="adj" fmla="val 6000"/>
            </a:avLst>
          </a:prstGeom>
          <a:solidFill>
            <a:srgbClr val="FFFB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8803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3F7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90779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BF3"/>
                </a:solidFill>
                <a:latin typeface="Helvetica Neue"/>
              </a:rPr>
              <a:t>Q3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2044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4100E"/>
                </a:solidFill>
                <a:latin typeface="Georgia"/>
              </a:rPr>
              <a:t>Stabilise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06240"/>
            <a:ext cx="32918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A332E"/>
                </a:solidFill>
                <a:latin typeface="Helvetica Neue"/>
              </a:rPr>
              <a:t>Newsletter (Buttondown live) → first 1k subs.</a:t>
            </a:r>
          </a:p>
          <a:p>
            <a:pPr algn="l"/>
            <a:r>
              <a:rPr sz="1100" b="0">
                <a:solidFill>
                  <a:srgbClr val="3A332E"/>
                </a:solidFill>
                <a:latin typeface="Helvetica Neue"/>
              </a:rPr>
              <a:t>Multilingual: Hindi + Tamil + Bengali via NLLB-200.</a:t>
            </a:r>
          </a:p>
          <a:p>
            <a:pPr algn="l"/>
            <a:r>
              <a:rPr sz="1100" b="0">
                <a:solidFill>
                  <a:srgbClr val="3A332E"/>
                </a:solidFill>
                <a:latin typeface="Helvetica Neue"/>
              </a:rPr>
              <a:t>Clinician marketplace MVP — book directly through the catalog.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651760"/>
            <a:ext cx="3657600" cy="3383280"/>
          </a:xfrm>
          <a:prstGeom prst="roundRect">
            <a:avLst>
              <a:gd name="adj" fmla="val 6000"/>
            </a:avLst>
          </a:prstGeom>
          <a:solidFill>
            <a:srgbClr val="FFFB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17720" y="28803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6B46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90779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BF3"/>
                </a:solidFill>
                <a:latin typeface="Helvetica Neue"/>
              </a:rPr>
              <a:t>Q4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52044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4100E"/>
                </a:solidFill>
                <a:latin typeface="Georgia"/>
              </a:rPr>
              <a:t>Grow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4206240"/>
            <a:ext cx="32918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A332E"/>
                </a:solidFill>
                <a:latin typeface="Helvetica Neue"/>
              </a:rPr>
              <a:t>AASECT and ISSWSH content partnerships.</a:t>
            </a:r>
          </a:p>
          <a:p>
            <a:pPr algn="l"/>
            <a:r>
              <a:rPr sz="1100" b="0">
                <a:solidFill>
                  <a:srgbClr val="3A332E"/>
                </a:solidFill>
                <a:latin typeface="Helvetica Neue"/>
              </a:rPr>
              <a:t>Mobile-first Companion app on Android (TWA shell, same backend).</a:t>
            </a:r>
          </a:p>
          <a:p>
            <a:pPr algn="l"/>
            <a:r>
              <a:rPr sz="1100" b="0">
                <a:solidFill>
                  <a:srgbClr val="3A332E"/>
                </a:solidFill>
                <a:latin typeface="Helvetica Neue"/>
              </a:rPr>
              <a:t>Anonymous group-therapy waiting rooms inside the platform.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651760"/>
            <a:ext cx="3657600" cy="3383280"/>
          </a:xfrm>
          <a:prstGeom prst="roundRect">
            <a:avLst>
              <a:gd name="adj" fmla="val 6000"/>
            </a:avLst>
          </a:prstGeom>
          <a:solidFill>
            <a:srgbClr val="FFFB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58200" y="28803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96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290779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BF3"/>
                </a:solidFill>
                <a:latin typeface="Helvetica Neue"/>
              </a:rPr>
              <a:t>Q1 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52044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4100E"/>
                </a:solidFill>
                <a:latin typeface="Georgia"/>
              </a:rPr>
              <a:t>Monetise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4206240"/>
            <a:ext cx="32918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A332E"/>
                </a:solidFill>
                <a:latin typeface="Helvetica Neue"/>
              </a:rPr>
              <a:t>Clinician subscription (₹ 999 / mo) for patient-share kits.</a:t>
            </a:r>
          </a:p>
          <a:p>
            <a:pPr algn="l"/>
            <a:r>
              <a:rPr sz="1100" b="0">
                <a:solidFill>
                  <a:srgbClr val="3A332E"/>
                </a:solidFill>
                <a:latin typeface="Helvetica Neue"/>
              </a:rPr>
              <a:t>B2B licensing to insurers and EAP providers.</a:t>
            </a:r>
          </a:p>
          <a:p>
            <a:pPr algn="l"/>
            <a:r>
              <a:rPr sz="1100" b="0">
                <a:solidFill>
                  <a:srgbClr val="3A332E"/>
                </a:solidFill>
                <a:latin typeface="Helvetica Neue"/>
              </a:rPr>
              <a:t>Sponsored research summaries (clearly labelled, never paid placements).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47F"/>
                </a:solidFill>
                <a:latin typeface="Helvetica Neue"/>
              </a:rPr>
              <a:t>Intimacy &amp; Sex Therapy Library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C847F"/>
                </a:solidFill>
                <a:latin typeface="Helvetica Neue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548640" cy="73152"/>
          </a:xfrm>
          <a:prstGeom prst="rect">
            <a:avLst/>
          </a:prstGeom>
          <a:solidFill>
            <a:srgbClr val="C96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6A4B"/>
                </a:solidFill>
                <a:latin typeface="Helvetica Neue"/>
              </a:rPr>
              <a:t>TEAM + ADVISORS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100E"/>
                </a:solidFill>
                <a:latin typeface="Georgia"/>
              </a:rPr>
              <a:t>Product-led founder, clinician-gated content.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43200"/>
            <a:ext cx="3657600" cy="3291840"/>
          </a:xfrm>
          <a:prstGeom prst="roundRect">
            <a:avLst>
              <a:gd name="adj" fmla="val 6000"/>
            </a:avLst>
          </a:prstGeom>
          <a:solidFill>
            <a:srgbClr val="FFFB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97180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3F7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99923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BF3"/>
                </a:solidFill>
                <a:latin typeface="Helvetica Neue"/>
              </a:rPr>
              <a:t>Founder /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11880"/>
            <a:ext cx="32918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332E"/>
                </a:solidFill>
                <a:latin typeface="Helvetica Neue"/>
              </a:rPr>
              <a:t>Aritra De</a:t>
            </a:r>
          </a:p>
          <a:p>
            <a:pPr algn="l"/>
            <a:r>
              <a:rPr sz="1300" b="0">
                <a:solidFill>
                  <a:srgbClr val="3A332E"/>
                </a:solidFill>
                <a:latin typeface="Helvetica Neue"/>
              </a:rPr>
              <a:t>Product + full-stack engineer.</a:t>
            </a:r>
          </a:p>
          <a:p>
            <a:pPr algn="l"/>
            <a:r>
              <a:rPr sz="1300" b="0">
                <a:solidFill>
                  <a:srgbClr val="3A332E"/>
                </a:solidFill>
                <a:latin typeface="Helvetica Neue"/>
              </a:rPr>
              <a:t>Built the engine; runs operations.</a:t>
            </a:r>
          </a:p>
          <a:p>
            <a:pPr algn="l"/>
            <a:r>
              <a:rPr sz="1300" b="0">
                <a:solidFill>
                  <a:srgbClr val="3A332E"/>
                </a:solidFill>
                <a:latin typeface="Helvetica Neue"/>
              </a:rPr>
              <a:t>Final call on architecture and brand.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743200"/>
            <a:ext cx="3657600" cy="3291840"/>
          </a:xfrm>
          <a:prstGeom prst="roundRect">
            <a:avLst>
              <a:gd name="adj" fmla="val 6000"/>
            </a:avLst>
          </a:prstGeom>
          <a:solidFill>
            <a:srgbClr val="FFFB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17720" y="297180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6B46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99923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BF3"/>
                </a:solidFill>
                <a:latin typeface="Helvetica Neue"/>
              </a:rPr>
              <a:t>Clinical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611880"/>
            <a:ext cx="32918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332E"/>
                </a:solidFill>
                <a:latin typeface="Helvetica Neue"/>
              </a:rPr>
              <a:t>Engages credentialed sex therapists</a:t>
            </a:r>
          </a:p>
          <a:p>
            <a:pPr algn="l"/>
            <a:r>
              <a:rPr sz="1300" b="0">
                <a:solidFill>
                  <a:srgbClr val="3A332E"/>
                </a:solidFill>
                <a:latin typeface="Helvetica Neue"/>
              </a:rPr>
              <a:t>(AASECT-aligned standards) for every</a:t>
            </a:r>
          </a:p>
          <a:p>
            <a:pPr algn="l"/>
            <a:r>
              <a:rPr sz="1300" b="0">
                <a:solidFill>
                  <a:srgbClr val="3A332E"/>
                </a:solidFill>
                <a:latin typeface="Helvetica Neue"/>
              </a:rPr>
              <a:t>published explainer. The library does</a:t>
            </a:r>
          </a:p>
          <a:p>
            <a:pPr algn="l"/>
            <a:r>
              <a:rPr sz="1300" b="0">
                <a:solidFill>
                  <a:srgbClr val="3A332E"/>
                </a:solidFill>
                <a:latin typeface="Helvetica Neue"/>
              </a:rPr>
              <a:t>not publish unreviewed material.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743200"/>
            <a:ext cx="3657600" cy="3291840"/>
          </a:xfrm>
          <a:prstGeom prst="roundRect">
            <a:avLst>
              <a:gd name="adj" fmla="val 6000"/>
            </a:avLst>
          </a:prstGeom>
          <a:solidFill>
            <a:srgbClr val="FFFB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58200" y="297180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C96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299923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BF3"/>
                </a:solidFill>
                <a:latin typeface="Helvetica Neue"/>
              </a:rPr>
              <a:t>Editorial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611880"/>
            <a:ext cx="32918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332E"/>
                </a:solidFill>
                <a:latin typeface="Helvetica Neue"/>
              </a:rPr>
              <a:t>Second-stage human gate before any</a:t>
            </a:r>
          </a:p>
          <a:p>
            <a:pPr algn="l"/>
            <a:r>
              <a:rPr sz="1300" b="0">
                <a:solidFill>
                  <a:srgbClr val="3A332E"/>
                </a:solidFill>
                <a:latin typeface="Helvetica Neue"/>
              </a:rPr>
              <a:t>post goes live: factual accuracy,</a:t>
            </a:r>
          </a:p>
          <a:p>
            <a:pPr algn="l"/>
            <a:r>
              <a:rPr sz="1300" b="0">
                <a:solidFill>
                  <a:srgbClr val="3A332E"/>
                </a:solidFill>
                <a:latin typeface="Helvetica Neue"/>
              </a:rPr>
              <a:t>tone, India-context, links sanity-checked.</a:t>
            </a:r>
          </a:p>
          <a:p>
            <a:pPr algn="l"/>
            <a:r>
              <a:rPr sz="1300" b="0">
                <a:solidFill>
                  <a:srgbClr val="3A332E"/>
                </a:solidFill>
                <a:latin typeface="Helvetica Neue"/>
              </a:rPr>
              <a:t>Never auto-published.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47F"/>
                </a:solidFill>
                <a:latin typeface="Helvetica Neue"/>
              </a:rPr>
              <a:t>Intimacy &amp; Sex Therapy Library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C847F"/>
                </a:solidFill>
                <a:latin typeface="Helvetica Neue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548640" cy="73152"/>
          </a:xfrm>
          <a:prstGeom prst="rect">
            <a:avLst/>
          </a:prstGeom>
          <a:solidFill>
            <a:srgbClr val="C96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6A4B"/>
                </a:solidFill>
                <a:latin typeface="Helvetica Neue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4100E"/>
                </a:solidFill>
                <a:latin typeface="Georgia"/>
              </a:rPr>
              <a:t>We're not asking for capital today.</a:t>
            </a:r>
          </a:p>
          <a:p>
            <a:pPr algn="l"/>
            <a:r>
              <a:rPr sz="3000" b="1">
                <a:solidFill>
                  <a:srgbClr val="14100E"/>
                </a:solidFill>
                <a:latin typeface="Georgia"/>
              </a:rPr>
              <a:t>We're asking for two things money can't buy: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96A4B"/>
                </a:solidFill>
                <a:latin typeface="Georgia"/>
              </a:rPr>
              <a:t>01 — Clinical advisors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332E"/>
                </a:solidFill>
                <a:latin typeface="Helvetica Neue"/>
              </a:rPr>
              <a:t>Sex therapists, OB-GYNs, andrologists, couples therapists.</a:t>
            </a:r>
          </a:p>
          <a:p>
            <a:pPr algn="l"/>
            <a:r>
              <a:rPr sz="1300" b="0">
                <a:solidFill>
                  <a:srgbClr val="3A332E"/>
                </a:solidFill>
                <a:latin typeface="Helvetica Neue"/>
              </a:rPr>
              <a:t>Sign two explainers a month, get co-authorship credit and a</a:t>
            </a:r>
          </a:p>
          <a:p>
            <a:pPr algn="l"/>
            <a:r>
              <a:rPr sz="1300" b="0">
                <a:solidFill>
                  <a:srgbClr val="3A332E"/>
                </a:solidFill>
                <a:latin typeface="Helvetica Neue"/>
              </a:rPr>
              <a:t>permanent link to your practice from every page you sign.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96A4B"/>
                </a:solidFill>
                <a:latin typeface="Georgia"/>
              </a:rPr>
              <a:t>02 — Distribution partnerships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94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332E"/>
                </a:solidFill>
                <a:latin typeface="Helvetica Neue"/>
              </a:rPr>
              <a:t>AASECT, ISSWSH, Indian medical colleges, and EAP providers</a:t>
            </a:r>
          </a:p>
          <a:p>
            <a:pPr algn="l"/>
            <a:r>
              <a:rPr sz="1300" b="0">
                <a:solidFill>
                  <a:srgbClr val="3A332E"/>
                </a:solidFill>
                <a:latin typeface="Helvetica Neue"/>
              </a:rPr>
              <a:t>who want a credible asset to give patients between sessions.</a:t>
            </a:r>
          </a:p>
          <a:p>
            <a:pPr algn="l"/>
            <a:r>
              <a:rPr sz="1300" b="0">
                <a:solidFill>
                  <a:srgbClr val="3A332E"/>
                </a:solidFill>
                <a:latin typeface="Helvetica Neue"/>
              </a:rPr>
              <a:t>Co-branding is on the table; revenue isn't required.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47F"/>
                </a:solidFill>
                <a:latin typeface="Helvetica Neue"/>
              </a:rPr>
              <a:t>Intimacy &amp; Sex Therapy Library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C847F"/>
                </a:solidFill>
                <a:latin typeface="Helvetica Neue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14100E"/>
                </a:solidFill>
                <a:latin typeface="Georgia"/>
              </a:rPr>
              <a:t>Adults in India deserve</a:t>
            </a:r>
          </a:p>
          <a:p>
            <a:pPr algn="ctr"/>
            <a:r>
              <a:rPr sz="4200" b="1">
                <a:solidFill>
                  <a:srgbClr val="14100E"/>
                </a:solidFill>
                <a:latin typeface="Georgia"/>
              </a:rPr>
              <a:t>better sex-health information.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0233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3A332E"/>
                </a:solidFill>
                <a:latin typeface="Georgia"/>
              </a:rPr>
              <a:t>We're already shipping it. Let's make it reach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2120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C96A4B"/>
                </a:solidFill>
                <a:latin typeface="Helvetica Neue"/>
              </a:rPr>
              <a:t>intimacy-and-sex-therapy-library.vercel.app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8C847F"/>
                </a:solidFill>
                <a:latin typeface="Helvetica Neue"/>
              </a:rPr>
              <a:t>Pitch contact: aritrajob79@gmail.com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47F"/>
                </a:solidFill>
                <a:latin typeface="Helvetica Neue"/>
              </a:rPr>
              <a:t>Intimacy &amp; Sex Therapy Library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C847F"/>
                </a:solidFill>
                <a:latin typeface="Helvetica Neue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