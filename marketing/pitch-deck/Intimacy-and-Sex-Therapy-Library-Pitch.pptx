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E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96A4B"/>
                </a:solidFill>
                <a:latin typeface="Helvetica Neue"/>
              </a:rPr>
              <a:t>AN EVIDENCE-GROUNDED, CLINICIAN-CURATED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105156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400" b="1">
                <a:solidFill>
                  <a:srgbClr val="14100E"/>
                </a:solidFill>
                <a:latin typeface="Georgia"/>
              </a:rPr>
              <a:t>Intimacy &amp; Sex Therapy Library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0">
                <a:solidFill>
                  <a:srgbClr val="3A332E"/>
                </a:solidFill>
                <a:latin typeface="Georgia"/>
              </a:rPr>
              <a:t>A non-monetised, India-focused reference library that turns</a:t>
            </a:r>
          </a:p>
          <a:p>
            <a:pPr algn="l"/>
            <a:r>
              <a:rPr sz="2200" b="0">
                <a:solidFill>
                  <a:srgbClr val="3A332E"/>
                </a:solidFill>
                <a:latin typeface="Georgia"/>
              </a:rPr>
              <a:t>peer-reviewed sex-therapy research into plain language adults</a:t>
            </a:r>
          </a:p>
          <a:p>
            <a:pPr algn="l"/>
            <a:r>
              <a:rPr sz="2200" b="0">
                <a:solidFill>
                  <a:srgbClr val="3A332E"/>
                </a:solidFill>
                <a:latin typeface="Georgia"/>
              </a:rPr>
              <a:t>and their clinicians can actually use.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521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8C847F"/>
                </a:solidFill>
                <a:latin typeface="Helvetica Neue"/>
              </a:rPr>
              <a:t>intimacy-and-sex-therapy-library.vercel.app  ·  Built 2026  ·  Pitch v1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47F"/>
                </a:solidFill>
                <a:latin typeface="Helvetica Neue"/>
              </a:rPr>
              <a:t>Intimacy &amp; Sex Therapy Library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8C847F"/>
                </a:solidFill>
                <a:latin typeface="Helvetica Neue"/>
              </a:rPr>
              <a:t>01 /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E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48640"/>
            <a:ext cx="548640" cy="73152"/>
          </a:xfrm>
          <a:prstGeom prst="rect">
            <a:avLst/>
          </a:prstGeom>
          <a:solidFill>
            <a:srgbClr val="C96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6A4B"/>
                </a:solidFill>
                <a:latin typeface="Helvetica Neue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>
                <a:solidFill>
                  <a:srgbClr val="14100E"/>
                </a:solidFill>
                <a:latin typeface="Georgia"/>
              </a:rPr>
              <a:t>Adults in India can't get accurate sex-health information</a:t>
            </a:r>
          </a:p>
          <a:p>
            <a:pPr algn="l"/>
            <a:r>
              <a:rPr sz="3400" b="1">
                <a:solidFill>
                  <a:srgbClr val="14100E"/>
                </a:solidFill>
                <a:latin typeface="Georgia"/>
              </a:rPr>
              <a:t>from the people who are supposed to provide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788920"/>
            <a:ext cx="2743200" cy="3108960"/>
          </a:xfrm>
          <a:prstGeom prst="roundRect">
            <a:avLst>
              <a:gd name="adj" fmla="val 6000"/>
            </a:avLst>
          </a:prstGeom>
          <a:solidFill>
            <a:srgbClr val="FFF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97180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C96A4B"/>
                </a:solidFill>
                <a:latin typeface="Georgia"/>
              </a:rPr>
              <a:t>82%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31920"/>
            <a:ext cx="24688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332E"/>
                </a:solidFill>
                <a:latin typeface="Helvetica Neue"/>
              </a:rPr>
              <a:t>of Indian medical graduates report receiving &lt; 4 hours</a:t>
            </a:r>
          </a:p>
          <a:p>
            <a:pPr algn="l"/>
            <a:r>
              <a:rPr sz="1100" b="0">
                <a:solidFill>
                  <a:srgbClr val="3A332E"/>
                </a:solidFill>
                <a:latin typeface="Helvetica Neue"/>
              </a:rPr>
              <a:t>of sex-education training across all of medical school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39496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47F"/>
                </a:solidFill>
                <a:latin typeface="Helvetica Neue"/>
              </a:rPr>
              <a:t>Source: Indian J Psychiatry, 2019 cross-sectional study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0712" y="2788920"/>
            <a:ext cx="2743200" cy="3108960"/>
          </a:xfrm>
          <a:prstGeom prst="roundRect">
            <a:avLst>
              <a:gd name="adj" fmla="val 6000"/>
            </a:avLst>
          </a:prstGeom>
          <a:solidFill>
            <a:srgbClr val="FFF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93592" y="297180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C96A4B"/>
                </a:solidFill>
                <a:latin typeface="Georgia"/>
              </a:rPr>
              <a:t>70%+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93592" y="3931920"/>
            <a:ext cx="24688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332E"/>
                </a:solidFill>
                <a:latin typeface="Helvetica Neue"/>
              </a:rPr>
              <a:t>of urban Indian couples surveyed by Durex (2017) reported</a:t>
            </a:r>
          </a:p>
          <a:p>
            <a:pPr algn="l"/>
            <a:r>
              <a:rPr sz="1100" b="0">
                <a:solidFill>
                  <a:srgbClr val="3A332E"/>
                </a:solidFill>
                <a:latin typeface="Helvetica Neue"/>
              </a:rPr>
              <a:t>sexual concerns they had never raised with any clinician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539496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47F"/>
                </a:solidFill>
                <a:latin typeface="Helvetica Neue"/>
              </a:rPr>
              <a:t>Source: Durex Global Sex Survey, India sample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2783" y="2788920"/>
            <a:ext cx="2743200" cy="3108960"/>
          </a:xfrm>
          <a:prstGeom prst="roundRect">
            <a:avLst>
              <a:gd name="adj" fmla="val 6000"/>
            </a:avLst>
          </a:prstGeom>
          <a:solidFill>
            <a:srgbClr val="FFF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5663" y="297180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C96A4B"/>
                </a:solidFill>
                <a:latin typeface="Georg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3" y="3931920"/>
            <a:ext cx="24688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332E"/>
                </a:solidFill>
                <a:latin typeface="Helvetica Neue"/>
              </a:rPr>
              <a:t>AASECT-certified sex therapists in all of India (population: 1.4B),</a:t>
            </a:r>
          </a:p>
          <a:p>
            <a:pPr algn="l"/>
            <a:r>
              <a:rPr sz="1100" b="0">
                <a:solidFill>
                  <a:srgbClr val="3A332E"/>
                </a:solidFill>
                <a:latin typeface="Helvetica Neue"/>
              </a:rPr>
              <a:t>vs. ~2,800 in the US (population: 330M)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3" y="539496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47F"/>
                </a:solidFill>
                <a:latin typeface="Helvetica Neue"/>
              </a:rPr>
              <a:t>Source: AASECT public directory, 2024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34856" y="2788920"/>
            <a:ext cx="2743200" cy="3108960"/>
          </a:xfrm>
          <a:prstGeom prst="roundRect">
            <a:avLst>
              <a:gd name="adj" fmla="val 6000"/>
            </a:avLst>
          </a:prstGeom>
          <a:solidFill>
            <a:srgbClr val="FFF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17736" y="297180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C96A4B"/>
                </a:solidFill>
                <a:latin typeface="Georgia"/>
              </a:rPr>
              <a:t>₹ 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17736" y="3931920"/>
            <a:ext cx="24688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332E"/>
                </a:solidFill>
                <a:latin typeface="Helvetica Neue"/>
              </a:rPr>
              <a:t>is what most existing resources actually cost — but they sit</a:t>
            </a:r>
          </a:p>
          <a:p>
            <a:pPr algn="l"/>
            <a:r>
              <a:rPr sz="1100" b="0">
                <a:solidFill>
                  <a:srgbClr val="3A332E"/>
                </a:solidFill>
                <a:latin typeface="Helvetica Neue"/>
              </a:rPr>
              <a:t>behind paywalls, are written in clinical jargon, or come from</a:t>
            </a:r>
          </a:p>
          <a:p>
            <a:pPr algn="l"/>
            <a:r>
              <a:rPr sz="1100" b="0">
                <a:solidFill>
                  <a:srgbClr val="3A332E"/>
                </a:solidFill>
                <a:latin typeface="Helvetica Neue"/>
              </a:rPr>
              <a:t>shame-driven cultural sources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17736" y="539496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47F"/>
                </a:solidFill>
                <a:latin typeface="Helvetica Neue"/>
              </a:rPr>
              <a:t>Observation from the 2025 competitive landscape scan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47F"/>
                </a:solidFill>
                <a:latin typeface="Helvetica Neue"/>
              </a:rPr>
              <a:t>Intimacy &amp; Sex Therapy Library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8C847F"/>
                </a:solidFill>
                <a:latin typeface="Helvetica Neue"/>
              </a:rPr>
              <a:t>02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E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48640"/>
            <a:ext cx="548640" cy="73152"/>
          </a:xfrm>
          <a:prstGeom prst="rect">
            <a:avLst/>
          </a:prstGeom>
          <a:solidFill>
            <a:srgbClr val="C96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6A4B"/>
                </a:solidFill>
                <a:latin typeface="Helvetica Neue"/>
              </a:rPr>
              <a:t>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14100E"/>
                </a:solidFill>
                <a:latin typeface="Georgia"/>
              </a:rPr>
              <a:t>Three secular shifts make this the moment.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743200"/>
            <a:ext cx="274320" cy="274320"/>
          </a:xfrm>
          <a:prstGeom prst="ellipse">
            <a:avLst/>
          </a:prstGeom>
          <a:solidFill>
            <a:srgbClr val="3F7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5176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4100E"/>
                </a:solidFill>
                <a:latin typeface="Helvetica Neue"/>
              </a:rPr>
              <a:t>Cultural permission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2651760"/>
            <a:ext cx="8229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3A332E"/>
                </a:solidFill>
                <a:latin typeface="Helvetica Neue"/>
              </a:rPr>
              <a:t>Indian urban audiences (24-45) now consume sex-positive content</a:t>
            </a:r>
          </a:p>
          <a:p>
            <a:pPr algn="l"/>
            <a:r>
              <a:rPr sz="1400" b="0">
                <a:solidFill>
                  <a:srgbClr val="3A332E"/>
                </a:solidFill>
                <a:latin typeface="Helvetica Neue"/>
              </a:rPr>
              <a:t>in English on YouTube and Instagram at scale — and demand sources</a:t>
            </a:r>
          </a:p>
          <a:p>
            <a:pPr algn="l"/>
            <a:r>
              <a:rPr sz="1400" b="0">
                <a:solidFill>
                  <a:srgbClr val="3A332E"/>
                </a:solidFill>
                <a:latin typeface="Helvetica Neue"/>
              </a:rPr>
              <a:t>they can verify against research, not influencers.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931920"/>
            <a:ext cx="274320" cy="274320"/>
          </a:xfrm>
          <a:prstGeom prst="ellipse">
            <a:avLst/>
          </a:prstGeom>
          <a:solidFill>
            <a:srgbClr val="6B4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84048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4100E"/>
                </a:solidFill>
                <a:latin typeface="Helvetica Neue"/>
              </a:rPr>
              <a:t>LLM economics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3840480"/>
            <a:ext cx="8229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3A332E"/>
                </a:solidFill>
                <a:latin typeface="Helvetica Neue"/>
              </a:rPr>
              <a:t>Plain-language summarisation that cost ₹ 5,000 / paper in 2022</a:t>
            </a:r>
          </a:p>
          <a:p>
            <a:pPr algn="l"/>
            <a:r>
              <a:rPr sz="1400" b="0">
                <a:solidFill>
                  <a:srgbClr val="3A332E"/>
                </a:solidFill>
                <a:latin typeface="Helvetica Neue"/>
              </a:rPr>
              <a:t>now costs &lt;₹ 5 / paper with open-source 70B models on Groq.</a:t>
            </a:r>
          </a:p>
          <a:p>
            <a:pPr algn="l"/>
            <a:r>
              <a:rPr sz="1400" b="0">
                <a:solidFill>
                  <a:srgbClr val="3A332E"/>
                </a:solidFill>
                <a:latin typeface="Helvetica Neue"/>
              </a:rPr>
              <a:t>A clinician's worth of writing is suddenly automatable for cents.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120640"/>
            <a:ext cx="274320" cy="274320"/>
          </a:xfrm>
          <a:prstGeom prst="ellipse">
            <a:avLst/>
          </a:prstGeom>
          <a:solidFill>
            <a:srgbClr val="C96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2920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4100E"/>
                </a:solidFill>
                <a:latin typeface="Helvetica Neue"/>
              </a:rPr>
              <a:t>Platform tolerance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5029200"/>
            <a:ext cx="8229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3A332E"/>
                </a:solidFill>
                <a:latin typeface="Helvetica Neue"/>
              </a:rPr>
              <a:t>Meta and YouTube have moved toward allowing clinician-authored,</a:t>
            </a:r>
          </a:p>
          <a:p>
            <a:pPr algn="l"/>
            <a:r>
              <a:rPr sz="1400" b="0">
                <a:solidFill>
                  <a:srgbClr val="3A332E"/>
                </a:solidFill>
                <a:latin typeface="Helvetica Neue"/>
              </a:rPr>
              <a:t>non-sexualised sex-health content. Reach is still throttled — but</a:t>
            </a:r>
          </a:p>
          <a:p>
            <a:pPr algn="l"/>
            <a:r>
              <a:rPr sz="1400" b="0">
                <a:solidFill>
                  <a:srgbClr val="3A332E"/>
                </a:solidFill>
                <a:latin typeface="Helvetica Neue"/>
              </a:rPr>
              <a:t>well-credentialed, citation-heavy material is no longer auto-banned.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47F"/>
                </a:solidFill>
                <a:latin typeface="Helvetica Neue"/>
              </a:rPr>
              <a:t>Intimacy &amp; Sex Therapy Library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8C847F"/>
                </a:solidFill>
                <a:latin typeface="Helvetica Neue"/>
              </a:rPr>
              <a:t>03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E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48640"/>
            <a:ext cx="548640" cy="73152"/>
          </a:xfrm>
          <a:prstGeom prst="rect">
            <a:avLst/>
          </a:prstGeom>
          <a:solidFill>
            <a:srgbClr val="C96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6A4B"/>
                </a:solidFill>
                <a:latin typeface="Helvetica Neue"/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100E"/>
                </a:solidFill>
                <a:latin typeface="Georgia"/>
              </a:rPr>
              <a:t>An autonomous content engine + a clinician-curated catalog.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743200"/>
            <a:ext cx="2743200" cy="3108960"/>
          </a:xfrm>
          <a:prstGeom prst="roundRect">
            <a:avLst>
              <a:gd name="adj" fmla="val 6000"/>
            </a:avLst>
          </a:prstGeom>
          <a:solidFill>
            <a:srgbClr val="FFF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2971800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3F7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999232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BF3"/>
                </a:solidFill>
                <a:latin typeface="Helvetica Neue"/>
              </a:rPr>
              <a:t>Discovery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11880"/>
            <a:ext cx="24688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Three nightly agents (PubMed,</a:t>
            </a:r>
          </a:p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Crossref, Open Library) propose</a:t>
            </a:r>
          </a:p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new evidence-grounded resources;</a:t>
            </a:r>
          </a:p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clinicians approve in one click.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743200"/>
            <a:ext cx="2743200" cy="3108960"/>
          </a:xfrm>
          <a:prstGeom prst="roundRect">
            <a:avLst>
              <a:gd name="adj" fmla="val 6000"/>
            </a:avLst>
          </a:prstGeom>
          <a:solidFill>
            <a:srgbClr val="FFF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11880" y="2971800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6B4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80" y="2999232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BF3"/>
                </a:solidFill>
                <a:latin typeface="Helvetica Neue"/>
              </a:rPr>
              <a:t>Writing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3611880"/>
            <a:ext cx="24688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LLMs draft explainers using a</a:t>
            </a:r>
          </a:p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brand + clinical + marketing</a:t>
            </a:r>
          </a:p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playbook, then self-critique and</a:t>
            </a:r>
          </a:p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rewrite until quality thresholds pass.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59" y="2743200"/>
            <a:ext cx="2743200" cy="3108960"/>
          </a:xfrm>
          <a:prstGeom prst="roundRect">
            <a:avLst>
              <a:gd name="adj" fmla="val 6000"/>
            </a:avLst>
          </a:prstGeom>
          <a:solidFill>
            <a:srgbClr val="FFF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92239" y="2971800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C96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39" y="2999232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BF3"/>
                </a:solidFill>
                <a:latin typeface="Helvetica Neue"/>
              </a:rPr>
              <a:t>Review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39" y="3611880"/>
            <a:ext cx="24688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Two-stage human gate: a sex</a:t>
            </a:r>
          </a:p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therapist signs off clinically; an</a:t>
            </a:r>
          </a:p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editor signs off editorially. No</a:t>
            </a:r>
          </a:p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auto-publish, ever.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19" y="2743200"/>
            <a:ext cx="2743200" cy="3108960"/>
          </a:xfrm>
          <a:prstGeom prst="roundRect">
            <a:avLst>
              <a:gd name="adj" fmla="val 6000"/>
            </a:avLst>
          </a:prstGeom>
          <a:solidFill>
            <a:srgbClr val="FFF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372599" y="2971800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141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72599" y="2999232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BF3"/>
                </a:solidFill>
                <a:latin typeface="Helvetica Neue"/>
              </a:rPr>
              <a:t>Distribution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599" y="3611880"/>
            <a:ext cx="24688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Renders to YouTube / Instagram /</a:t>
            </a:r>
          </a:p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Facebook Reels with consistent</a:t>
            </a:r>
          </a:p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voice + portrait; metrics fed back</a:t>
            </a:r>
          </a:p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into the writing loop.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47F"/>
                </a:solidFill>
                <a:latin typeface="Helvetica Neue"/>
              </a:rPr>
              <a:t>Intimacy &amp; Sex Therapy Library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8C847F"/>
                </a:solidFill>
                <a:latin typeface="Helvetica Neue"/>
              </a:rPr>
              <a:t>04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E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48640"/>
            <a:ext cx="548640" cy="73152"/>
          </a:xfrm>
          <a:prstGeom prst="rect">
            <a:avLst/>
          </a:prstGeom>
          <a:solidFill>
            <a:srgbClr val="C96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6A4B"/>
                </a:solidFill>
                <a:latin typeface="Helvetica Neue"/>
              </a:rP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4100E"/>
                </a:solidFill>
                <a:latin typeface="Georgia"/>
              </a:rPr>
              <a:t>End-to-end pipeline, fully automated except the two human gates.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51760"/>
            <a:ext cx="6400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C96A4B"/>
                </a:solidFill>
                <a:latin typeface="Georgia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65176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4100E"/>
                </a:solidFill>
                <a:latin typeface="Helvetica Neue"/>
              </a:rPr>
              <a:t>Discover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2651760"/>
            <a:ext cx="8229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3A332E"/>
                </a:solidFill>
                <a:latin typeface="Helvetica Neue"/>
              </a:rPr>
              <a:t>Nightly agent scans PubMed + Crossref + Open Library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0400"/>
            <a:ext cx="6400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C96A4B"/>
                </a:solidFill>
                <a:latin typeface="Georgia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20040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4100E"/>
                </a:solidFill>
                <a:latin typeface="Helvetica Neue"/>
              </a:rPr>
              <a:t>Draft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3200400"/>
            <a:ext cx="8229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3A332E"/>
                </a:solidFill>
                <a:latin typeface="Helvetica Neue"/>
              </a:rPr>
              <a:t>Groq Llama-3-70B writes a clinical, brand-aware script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49040"/>
            <a:ext cx="6400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C96A4B"/>
                </a:solidFill>
                <a:latin typeface="Georgia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374904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4100E"/>
                </a:solidFill>
                <a:latin typeface="Helvetica Neue"/>
              </a:rPr>
              <a:t>Critique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3749040"/>
            <a:ext cx="8229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3A332E"/>
                </a:solidFill>
                <a:latin typeface="Helvetica Neue"/>
              </a:rPr>
              <a:t>LLM grades its own work on 4 axes; rewrites if any fall below 7/10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297679"/>
            <a:ext cx="6400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C96A4B"/>
                </a:solidFill>
                <a:latin typeface="Georgia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4297679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4100E"/>
                </a:solidFill>
                <a:latin typeface="Helvetica Neue"/>
              </a:rPr>
              <a:t>Review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4297679"/>
            <a:ext cx="8229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3A332E"/>
                </a:solidFill>
                <a:latin typeface="Helvetica Neue"/>
              </a:rPr>
              <a:t>Sex therapist + editor approve via /admin/queue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846320"/>
            <a:ext cx="6400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C96A4B"/>
                </a:solidFill>
                <a:latin typeface="Georgia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84632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4100E"/>
                </a:solidFill>
                <a:latin typeface="Helvetica Neue"/>
              </a:rPr>
              <a:t>Render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4846320"/>
            <a:ext cx="8229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3A332E"/>
                </a:solidFill>
                <a:latin typeface="Helvetica Neue"/>
              </a:rPr>
              <a:t>Remotion on GitHub Actions: stock photos + Edge TTS + captions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394960"/>
            <a:ext cx="6400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C96A4B"/>
                </a:solidFill>
                <a:latin typeface="Georgia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539496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4100E"/>
                </a:solidFill>
                <a:latin typeface="Helvetica Neue"/>
              </a:rPr>
              <a:t>Publish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60"/>
            <a:ext cx="8229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3A332E"/>
                </a:solidFill>
                <a:latin typeface="Helvetica Neue"/>
              </a:rPr>
              <a:t>Human clicks publish; we post to IG / YT / FB with retry + audit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943599"/>
            <a:ext cx="6400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C96A4B"/>
                </a:solidFill>
                <a:latin typeface="Georgia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5943599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4100E"/>
                </a:solidFill>
                <a:latin typeface="Helvetica Neue"/>
              </a:rPr>
              <a:t>Measure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74720" y="5943599"/>
            <a:ext cx="8229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3A332E"/>
                </a:solidFill>
                <a:latin typeface="Helvetica Neue"/>
              </a:rPr>
              <a:t>Weekly poll pulls views, likes, follower deltas; feeds /admin/analytics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47F"/>
                </a:solidFill>
                <a:latin typeface="Helvetica Neue"/>
              </a:rPr>
              <a:t>Intimacy &amp; Sex Therapy Library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8C847F"/>
                </a:solidFill>
                <a:latin typeface="Helvetica Neue"/>
              </a:rPr>
              <a:t>05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E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48640"/>
            <a:ext cx="548640" cy="73152"/>
          </a:xfrm>
          <a:prstGeom prst="rect">
            <a:avLst/>
          </a:prstGeom>
          <a:solidFill>
            <a:srgbClr val="C96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6A4B"/>
                </a:solidFill>
                <a:latin typeface="Helvetica Neue"/>
              </a:rPr>
              <a:t>TECHNICAL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4100E"/>
                </a:solidFill>
                <a:latin typeface="Georgia"/>
              </a:rPr>
              <a:t>Mac-free. Workstation-free. Serverless-first, with one escape hatch.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770632"/>
            <a:ext cx="128016" cy="128016"/>
          </a:xfrm>
          <a:prstGeom prst="ellipse">
            <a:avLst/>
          </a:prstGeom>
          <a:solidFill>
            <a:srgbClr val="3F7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4100E"/>
                </a:solidFill>
                <a:latin typeface="Helvetica Neue"/>
              </a:rPr>
              <a:t>App + APIs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265176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Next.js 14 on Vercel (Mumbai region)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136392"/>
            <a:ext cx="128016" cy="128016"/>
          </a:xfrm>
          <a:prstGeom prst="ellipse">
            <a:avLst/>
          </a:prstGeom>
          <a:solidFill>
            <a:srgbClr val="6B4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01752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4100E"/>
                </a:solidFill>
                <a:latin typeface="Helvetica Neue"/>
              </a:rPr>
              <a:t>Database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30175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Neon Postgres + Drizzle ORM + Drizzle migrations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502152"/>
            <a:ext cx="128016" cy="128016"/>
          </a:xfrm>
          <a:prstGeom prst="ellipse">
            <a:avLst/>
          </a:prstGeom>
          <a:solidFill>
            <a:srgbClr val="C96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3832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4100E"/>
                </a:solidFill>
                <a:latin typeface="Helvetica Neue"/>
              </a:rPr>
              <a:t>Auth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33832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Auth.js v5 (magic link + Google OAuth) + role-based gates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3867912"/>
            <a:ext cx="128016" cy="128016"/>
          </a:xfrm>
          <a:prstGeom prst="ellipse">
            <a:avLst/>
          </a:prstGeom>
          <a:solidFill>
            <a:srgbClr val="3F7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4904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4100E"/>
                </a:solidFill>
                <a:latin typeface="Helvetica Neue"/>
              </a:rPr>
              <a:t>LLM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374904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Groq Llama-3-70B (primary) → Anthropic Claude Sonnet (fallback)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4233672"/>
            <a:ext cx="128016" cy="128016"/>
          </a:xfrm>
          <a:prstGeom prst="ellipse">
            <a:avLst/>
          </a:prstGeom>
          <a:solidFill>
            <a:srgbClr val="6B4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1148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4100E"/>
                </a:solidFill>
                <a:latin typeface="Helvetica Neue"/>
              </a:rPr>
              <a:t>Voice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41148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Microsoft Edge TTS (en-US-JennyNeural, no API key required)</a:t>
            </a:r>
          </a:p>
        </p:txBody>
      </p:sp>
      <p:sp>
        <p:nvSpPr>
          <p:cNvPr id="21" name="Oval 20"/>
          <p:cNvSpPr/>
          <p:nvPr/>
        </p:nvSpPr>
        <p:spPr>
          <a:xfrm>
            <a:off x="640080" y="4599432"/>
            <a:ext cx="128016" cy="128016"/>
          </a:xfrm>
          <a:prstGeom prst="ellipse">
            <a:avLst/>
          </a:prstGeom>
          <a:solidFill>
            <a:srgbClr val="C96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805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4100E"/>
                </a:solidFill>
                <a:latin typeface="Helvetica Neue"/>
              </a:rPr>
              <a:t>Video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448056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Remotion + FFmpeg on GitHub Actions runners</a:t>
            </a:r>
          </a:p>
        </p:txBody>
      </p:sp>
      <p:sp>
        <p:nvSpPr>
          <p:cNvPr id="24" name="Oval 23"/>
          <p:cNvSpPr/>
          <p:nvPr/>
        </p:nvSpPr>
        <p:spPr>
          <a:xfrm>
            <a:off x="640080" y="4965192"/>
            <a:ext cx="128016" cy="128016"/>
          </a:xfrm>
          <a:prstGeom prst="ellipse">
            <a:avLst/>
          </a:prstGeom>
          <a:solidFill>
            <a:srgbClr val="3F7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84632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4100E"/>
                </a:solidFill>
                <a:latin typeface="Helvetica Neue"/>
              </a:rPr>
              <a:t>Storage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0" y="48463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Vercel Blob (Mumbai edge cache) — no local FS dependencies</a:t>
            </a:r>
          </a:p>
        </p:txBody>
      </p:sp>
      <p:sp>
        <p:nvSpPr>
          <p:cNvPr id="27" name="Oval 26"/>
          <p:cNvSpPr/>
          <p:nvPr/>
        </p:nvSpPr>
        <p:spPr>
          <a:xfrm>
            <a:off x="640080" y="5330952"/>
            <a:ext cx="128016" cy="128016"/>
          </a:xfrm>
          <a:prstGeom prst="ellipse">
            <a:avLst/>
          </a:prstGeom>
          <a:solidFill>
            <a:srgbClr val="6B4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2120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4100E"/>
                </a:solidFill>
                <a:latin typeface="Helvetica Neue"/>
              </a:rPr>
              <a:t>Schedules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1840" y="52120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3 Vercel crons (daily) + 4 GitHub Actions workflows (hourly/nightly)</a:t>
            </a:r>
          </a:p>
        </p:txBody>
      </p:sp>
      <p:sp>
        <p:nvSpPr>
          <p:cNvPr id="30" name="Oval 29"/>
          <p:cNvSpPr/>
          <p:nvPr/>
        </p:nvSpPr>
        <p:spPr>
          <a:xfrm>
            <a:off x="640080" y="5696712"/>
            <a:ext cx="128016" cy="128016"/>
          </a:xfrm>
          <a:prstGeom prst="ellipse">
            <a:avLst/>
          </a:prstGeom>
          <a:solidFill>
            <a:srgbClr val="C96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57784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4100E"/>
                </a:solidFill>
                <a:latin typeface="Helvetica Neue"/>
              </a:rPr>
              <a:t>Publishing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1840" y="557784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Meta Graph API v22 (IG / FB Reels) + YouTube Data API v3 OAuth2</a:t>
            </a:r>
          </a:p>
        </p:txBody>
      </p:sp>
      <p:sp>
        <p:nvSpPr>
          <p:cNvPr id="33" name="Oval 32"/>
          <p:cNvSpPr/>
          <p:nvPr/>
        </p:nvSpPr>
        <p:spPr>
          <a:xfrm>
            <a:off x="640080" y="6062472"/>
            <a:ext cx="128016" cy="128016"/>
          </a:xfrm>
          <a:prstGeom prst="ellipse">
            <a:avLst/>
          </a:prstGeom>
          <a:solidFill>
            <a:srgbClr val="3F7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59436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4100E"/>
                </a:solidFill>
                <a:latin typeface="Helvetica Neue"/>
              </a:rPr>
              <a:t>Observability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91840" y="59436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Audit log (PII-scrubbed) + Plausible + Vercel Web Analytics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47F"/>
                </a:solidFill>
                <a:latin typeface="Helvetica Neue"/>
              </a:rPr>
              <a:t>Intimacy &amp; Sex Therapy Library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8C847F"/>
                </a:solidFill>
                <a:latin typeface="Helvetica Neue"/>
              </a:rPr>
              <a:t>06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E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48640"/>
            <a:ext cx="548640" cy="73152"/>
          </a:xfrm>
          <a:prstGeom prst="rect">
            <a:avLst/>
          </a:prstGeom>
          <a:solidFill>
            <a:srgbClr val="C96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6A4B"/>
                </a:solidFill>
                <a:latin typeface="Helvetica Neue"/>
              </a:rPr>
              <a:t>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14100E"/>
                </a:solidFill>
                <a:latin typeface="Georgia"/>
              </a:rPr>
              <a:t>Big TAM, near-zero credible supply.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51760"/>
            <a:ext cx="2743200" cy="3108960"/>
          </a:xfrm>
          <a:prstGeom prst="roundRect">
            <a:avLst>
              <a:gd name="adj" fmla="val 6000"/>
            </a:avLst>
          </a:prstGeom>
          <a:solidFill>
            <a:srgbClr val="FFF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2468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>
                <a:solidFill>
                  <a:srgbClr val="C96A4B"/>
                </a:solidFill>
                <a:latin typeface="Georgia"/>
              </a:rPr>
              <a:t>₹ 11,200 Cr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069080"/>
            <a:ext cx="24688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4100E"/>
                </a:solidFill>
                <a:latin typeface="Helvetica Neue"/>
              </a:rPr>
              <a:t>Indian online wellness market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25780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47F"/>
                </a:solidFill>
                <a:latin typeface="Helvetica Neue"/>
              </a:rPr>
              <a:t>Statista 2024, projected ₹ 21,000 Cr by 2028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651760"/>
            <a:ext cx="2743200" cy="3108960"/>
          </a:xfrm>
          <a:prstGeom prst="roundRect">
            <a:avLst>
              <a:gd name="adj" fmla="val 6000"/>
            </a:avLst>
          </a:prstGeom>
          <a:solidFill>
            <a:srgbClr val="FFF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2926080"/>
            <a:ext cx="2468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>
                <a:solidFill>
                  <a:srgbClr val="C96A4B"/>
                </a:solidFill>
                <a:latin typeface="Georgia"/>
              </a:rPr>
              <a:t>280 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4069080"/>
            <a:ext cx="24688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4100E"/>
                </a:solidFill>
                <a:latin typeface="Helvetica Neue"/>
              </a:rPr>
              <a:t>English-literate urban Indians 18-45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525780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47F"/>
                </a:solidFill>
                <a:latin typeface="Helvetica Neue"/>
              </a:rPr>
              <a:t>MoSPI 2023 enumeration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59" y="2651760"/>
            <a:ext cx="2743200" cy="3108960"/>
          </a:xfrm>
          <a:prstGeom prst="roundRect">
            <a:avLst>
              <a:gd name="adj" fmla="val 6000"/>
            </a:avLst>
          </a:prstGeom>
          <a:solidFill>
            <a:srgbClr val="FFF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39" y="2926080"/>
            <a:ext cx="2468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>
                <a:solidFill>
                  <a:srgbClr val="C96A4B"/>
                </a:solidFill>
                <a:latin typeface="Georgia"/>
              </a:rPr>
              <a:t>85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39" y="4069080"/>
            <a:ext cx="24688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4100E"/>
                </a:solidFill>
                <a:latin typeface="Helvetica Neue"/>
              </a:rPr>
              <a:t>Indian couples in the prime sexual-concern</a:t>
            </a:r>
          </a:p>
          <a:p>
            <a:pPr algn="l"/>
            <a:r>
              <a:rPr sz="1300" b="1">
                <a:solidFill>
                  <a:srgbClr val="14100E"/>
                </a:solidFill>
                <a:latin typeface="Helvetica Neue"/>
              </a:rPr>
              <a:t>cohort (married, 25-45)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39" y="525780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47F"/>
                </a:solidFill>
                <a:latin typeface="Helvetica Neue"/>
              </a:rPr>
              <a:t>Census + NFHS-5 cross-tab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19" y="2651760"/>
            <a:ext cx="2743200" cy="3108960"/>
          </a:xfrm>
          <a:prstGeom prst="roundRect">
            <a:avLst>
              <a:gd name="adj" fmla="val 6000"/>
            </a:avLst>
          </a:prstGeom>
          <a:solidFill>
            <a:srgbClr val="FFF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72599" y="2926080"/>
            <a:ext cx="2468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>
                <a:solidFill>
                  <a:srgbClr val="C96A4B"/>
                </a:solidFill>
                <a:latin typeface="Georgia"/>
              </a:rPr>
              <a:t>12 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599" y="4069080"/>
            <a:ext cx="24688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4100E"/>
                </a:solidFill>
                <a:latin typeface="Helvetica Neue"/>
              </a:rPr>
              <a:t>AASECT-aligned content seekers globally</a:t>
            </a:r>
          </a:p>
          <a:p>
            <a:pPr algn="l"/>
            <a:r>
              <a:rPr sz="1300" b="1">
                <a:solidFill>
                  <a:srgbClr val="14100E"/>
                </a:solidFill>
                <a:latin typeface="Helvetica Neue"/>
              </a:rPr>
              <a:t>in English-speaking diaspora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599" y="525780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47F"/>
                </a:solidFill>
                <a:latin typeface="Helvetica Neue"/>
              </a:rPr>
              <a:t>Google Trends + YouTube Studio benchmarks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47F"/>
                </a:solidFill>
                <a:latin typeface="Helvetica Neue"/>
              </a:rPr>
              <a:t>Intimacy &amp; Sex Therapy Library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8C847F"/>
                </a:solidFill>
                <a:latin typeface="Helvetica Neue"/>
              </a:rPr>
              <a:t>07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E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48640"/>
            <a:ext cx="548640" cy="73152"/>
          </a:xfrm>
          <a:prstGeom prst="rect">
            <a:avLst/>
          </a:prstGeom>
          <a:solidFill>
            <a:srgbClr val="C96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6A4B"/>
                </a:solidFill>
                <a:latin typeface="Helvetica Neue"/>
              </a:rPr>
              <a:t>COMPETITIVE 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4100E"/>
                </a:solidFill>
                <a:latin typeface="Georgia"/>
              </a:rPr>
              <a:t>Each existing option fails on at least one of: clinical, local, or free.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74320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85292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4100E"/>
                </a:solidFill>
                <a:latin typeface="Helvetica Neue"/>
              </a:rPr>
              <a:t>Healthify / Practo blogs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285292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8C847F"/>
                </a:solidFill>
                <a:latin typeface="Helvetica Neue"/>
              </a:rPr>
              <a:t>Local, free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788920"/>
            <a:ext cx="4937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332E"/>
                </a:solidFill>
                <a:latin typeface="Helvetica Neue"/>
              </a:rPr>
              <a:t>Not clinician-authored;</a:t>
            </a:r>
          </a:p>
          <a:p>
            <a:pPr algn="l"/>
            <a:r>
              <a:rPr sz="1100" b="0">
                <a:solidFill>
                  <a:srgbClr val="3A332E"/>
                </a:solidFill>
                <a:latin typeface="Helvetica Neue"/>
              </a:rPr>
              <a:t>SEO-driven, not evidence-driven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33756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44728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4100E"/>
                </a:solidFill>
                <a:latin typeface="Helvetica Neue"/>
              </a:rPr>
              <a:t>Mayo Clinic / Cleveland Clinic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344728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8C847F"/>
                </a:solidFill>
                <a:latin typeface="Helvetica Neue"/>
              </a:rPr>
              <a:t>Clinical, free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383280"/>
            <a:ext cx="4937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332E"/>
                </a:solidFill>
                <a:latin typeface="Helvetica Neue"/>
              </a:rPr>
              <a:t>US-centric framing; pricing,</a:t>
            </a:r>
          </a:p>
          <a:p>
            <a:pPr algn="l"/>
            <a:r>
              <a:rPr sz="1100" b="0">
                <a:solidFill>
                  <a:srgbClr val="3A332E"/>
                </a:solidFill>
                <a:latin typeface="Helvetica Neue"/>
              </a:rPr>
              <a:t>insurance, and norms don't transfer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93192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04164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4100E"/>
                </a:solidFill>
                <a:latin typeface="Helvetica Neue"/>
              </a:rPr>
              <a:t>Esther Perel / Emily Nagoski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404164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8C847F"/>
                </a:solidFill>
                <a:latin typeface="Helvetica Neue"/>
              </a:rPr>
              <a:t>Clinical, English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977640"/>
            <a:ext cx="4937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332E"/>
                </a:solidFill>
                <a:latin typeface="Helvetica Neue"/>
              </a:rPr>
              <a:t>Behind paywalls + courses;</a:t>
            </a:r>
          </a:p>
          <a:p>
            <a:pPr algn="l"/>
            <a:r>
              <a:rPr sz="1100" b="0">
                <a:solidFill>
                  <a:srgbClr val="3A332E"/>
                </a:solidFill>
                <a:latin typeface="Helvetica Neue"/>
              </a:rPr>
              <a:t>not India-contextualised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52628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63600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4100E"/>
                </a:solidFill>
                <a:latin typeface="Helvetica Neue"/>
              </a:rPr>
              <a:t>Reddit / influencer YouTube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463600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8C847F"/>
                </a:solidFill>
                <a:latin typeface="Helvetica Neue"/>
              </a:rPr>
              <a:t>Local, free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572000"/>
            <a:ext cx="4937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332E"/>
                </a:solidFill>
                <a:latin typeface="Helvetica Neue"/>
              </a:rPr>
              <a:t>Variable accuracy; no review;</a:t>
            </a:r>
          </a:p>
          <a:p>
            <a:pPr algn="l"/>
            <a:r>
              <a:rPr sz="1100" b="0">
                <a:solidFill>
                  <a:srgbClr val="3A332E"/>
                </a:solidFill>
                <a:latin typeface="Helvetica Neue"/>
              </a:rPr>
              <a:t>shame-spiral risk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2064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DE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23036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4100E"/>
                </a:solidFill>
                <a:latin typeface="Helvetica Neue"/>
              </a:rPr>
              <a:t>Intimacy &amp; Sex Therapy Library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6240" y="523036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C96A4B"/>
                </a:solidFill>
                <a:latin typeface="Helvetica Neue"/>
              </a:rPr>
              <a:t>Clinical + Local + Free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5166360"/>
            <a:ext cx="4937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332E"/>
                </a:solidFill>
                <a:latin typeface="Helvetica Neue"/>
              </a:rPr>
              <a:t>Citation-backed, AASECT-aligned,</a:t>
            </a:r>
          </a:p>
          <a:p>
            <a:pPr algn="l"/>
            <a:r>
              <a:rPr sz="1100" b="0">
                <a:solidFill>
                  <a:srgbClr val="3A332E"/>
                </a:solidFill>
                <a:latin typeface="Helvetica Neue"/>
              </a:rPr>
              <a:t>India-context, plain-language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47F"/>
                </a:solidFill>
                <a:latin typeface="Helvetica Neue"/>
              </a:rPr>
              <a:t>Intimacy &amp; Sex Therapy Library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8C847F"/>
                </a:solidFill>
                <a:latin typeface="Helvetica Neue"/>
              </a:rPr>
              <a:t>08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E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48640"/>
            <a:ext cx="548640" cy="73152"/>
          </a:xfrm>
          <a:prstGeom prst="rect">
            <a:avLst/>
          </a:prstGeom>
          <a:solidFill>
            <a:srgbClr val="C96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6A4B"/>
                </a:solidFill>
                <a:latin typeface="Helvetica Neue"/>
              </a:rPr>
              <a:t>WHAT'S BUILT (TODAY)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14100E"/>
                </a:solidFill>
                <a:latin typeface="Georgia"/>
              </a:rPr>
              <a:t>A working v1 in production, not slideware.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724912"/>
            <a:ext cx="274320" cy="274320"/>
          </a:xfrm>
          <a:prstGeom prst="ellipse">
            <a:avLst/>
          </a:prstGeom>
          <a:solidFill>
            <a:srgbClr val="3F7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71576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BF3"/>
                </a:solidFill>
                <a:latin typeface="Helvetica Neue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4100E"/>
                </a:solidFill>
                <a:latin typeface="Helvetica Neue"/>
              </a:rPr>
              <a:t>Live web 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651760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intimacy-and-sex-therapy-library.vercel.app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182112"/>
            <a:ext cx="274320" cy="274320"/>
          </a:xfrm>
          <a:prstGeom prst="ellipse">
            <a:avLst/>
          </a:prstGeom>
          <a:solidFill>
            <a:srgbClr val="3F7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17296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BF3"/>
                </a:solidFill>
                <a:latin typeface="Helvetica Neue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1089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4100E"/>
                </a:solidFill>
                <a:latin typeface="Helvetica Neue"/>
              </a:rPr>
              <a:t>Catalog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3108960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100+ clinician-vetted resources, allowlist-restricted to 49 tier-1/2 sources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3639312"/>
            <a:ext cx="274320" cy="274320"/>
          </a:xfrm>
          <a:prstGeom prst="ellipse">
            <a:avLst/>
          </a:prstGeom>
          <a:solidFill>
            <a:srgbClr val="3F7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63016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BF3"/>
                </a:solidFill>
                <a:latin typeface="Helvetica Neue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5661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4100E"/>
                </a:solidFill>
                <a:latin typeface="Helvetica Neue"/>
              </a:rPr>
              <a:t>AI surfaces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3566160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Sahay (RAG chat) + Companion (longer-form) + Decide (assessment flow)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4096512"/>
            <a:ext cx="274320" cy="274320"/>
          </a:xfrm>
          <a:prstGeom prst="ellipse">
            <a:avLst/>
          </a:prstGeom>
          <a:solidFill>
            <a:srgbClr val="3F7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08736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BF3"/>
                </a:solidFill>
                <a:latin typeface="Helvetica Neue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0233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4100E"/>
                </a:solidFill>
                <a:latin typeface="Helvetica Neue"/>
              </a:rPr>
              <a:t>Autonomous content engine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4023360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Daily script gen + render + multi-platform publish + metrics poll</a:t>
            </a:r>
          </a:p>
        </p:txBody>
      </p:sp>
      <p:sp>
        <p:nvSpPr>
          <p:cNvPr id="22" name="Oval 21"/>
          <p:cNvSpPr/>
          <p:nvPr/>
        </p:nvSpPr>
        <p:spPr>
          <a:xfrm>
            <a:off x="640080" y="4553712"/>
            <a:ext cx="274320" cy="274320"/>
          </a:xfrm>
          <a:prstGeom prst="ellipse">
            <a:avLst/>
          </a:prstGeom>
          <a:solidFill>
            <a:srgbClr val="3F7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54456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BF3"/>
                </a:solidFill>
                <a:latin typeface="Helvetica Neue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4805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4100E"/>
                </a:solidFill>
                <a:latin typeface="Helvetica Neue"/>
              </a:rPr>
              <a:t>Admin console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480560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/admin/queue, /admin/analytics, /admin/feedback, /admin/subscribers, /admin/users, /admin/proposals</a:t>
            </a:r>
          </a:p>
        </p:txBody>
      </p:sp>
      <p:sp>
        <p:nvSpPr>
          <p:cNvPr id="26" name="Oval 25"/>
          <p:cNvSpPr/>
          <p:nvPr/>
        </p:nvSpPr>
        <p:spPr>
          <a:xfrm>
            <a:off x="640080" y="5010912"/>
            <a:ext cx="274320" cy="274320"/>
          </a:xfrm>
          <a:prstGeom prst="ellipse">
            <a:avLst/>
          </a:prstGeom>
          <a:solidFill>
            <a:srgbClr val="3F7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00176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BF3"/>
                </a:solidFill>
                <a:latin typeface="Helvetica Neue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49377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4100E"/>
                </a:solidFill>
                <a:latin typeface="Helvetica Neue"/>
              </a:rPr>
              <a:t>Role + permission model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4937760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viewer / clinician / editor / admin with invite-by-email</a:t>
            </a:r>
          </a:p>
        </p:txBody>
      </p:sp>
      <p:sp>
        <p:nvSpPr>
          <p:cNvPr id="30" name="Oval 29"/>
          <p:cNvSpPr/>
          <p:nvPr/>
        </p:nvSpPr>
        <p:spPr>
          <a:xfrm>
            <a:off x="640080" y="5468112"/>
            <a:ext cx="274320" cy="274320"/>
          </a:xfrm>
          <a:prstGeom prst="ellipse">
            <a:avLst/>
          </a:prstGeom>
          <a:solidFill>
            <a:srgbClr val="3F7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45896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BF3"/>
                </a:solidFill>
                <a:latin typeface="Helvetica Neue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" y="53949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4100E"/>
                </a:solidFill>
                <a:latin typeface="Helvetica Neue"/>
              </a:rPr>
              <a:t>Quality gates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5394960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Adversarial eval harness + Lighthouse a11y CI on every PR</a:t>
            </a:r>
          </a:p>
        </p:txBody>
      </p:sp>
      <p:sp>
        <p:nvSpPr>
          <p:cNvPr id="34" name="Oval 33"/>
          <p:cNvSpPr/>
          <p:nvPr/>
        </p:nvSpPr>
        <p:spPr>
          <a:xfrm>
            <a:off x="640080" y="5925312"/>
            <a:ext cx="274320" cy="274320"/>
          </a:xfrm>
          <a:prstGeom prst="ellipse">
            <a:avLst/>
          </a:prstGeom>
          <a:solidFill>
            <a:srgbClr val="3F7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591616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BF3"/>
                </a:solidFill>
                <a:latin typeface="Helvetica Neue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8521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4100E"/>
                </a:solidFill>
                <a:latin typeface="Helvetica Neue"/>
              </a:rPr>
              <a:t>Channels live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0560" y="5852160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A332E"/>
                </a:solidFill>
                <a:latin typeface="Helvetica Neue"/>
              </a:rPr>
              <a:t>YouTube @IntimacySexTherapyLibrary  ·  Instagram  ·  Facebook page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47F"/>
                </a:solidFill>
                <a:latin typeface="Helvetica Neue"/>
              </a:rPr>
              <a:t>Intimacy &amp; Sex Therapy Library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8C847F"/>
                </a:solidFill>
                <a:latin typeface="Helvetica Neue"/>
              </a:rPr>
              <a:t>09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E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48640"/>
            <a:ext cx="548640" cy="73152"/>
          </a:xfrm>
          <a:prstGeom prst="rect">
            <a:avLst/>
          </a:prstGeom>
          <a:solidFill>
            <a:srgbClr val="C96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6A4B"/>
                </a:solidFill>
                <a:latin typeface="Helvetica Neue"/>
              </a:rPr>
              <a:t>UNIT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14100E"/>
                </a:solidFill>
                <a:latin typeface="Georgia"/>
              </a:rPr>
              <a:t>Marginal cost of one new explainer: under ₹ 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5176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4100E"/>
                </a:solidFill>
                <a:latin typeface="Helvetica Neue"/>
              </a:rPr>
              <a:t>LLM draft + critique (Groq Llama-3-70B)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2651760"/>
            <a:ext cx="1645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>
                <a:solidFill>
                  <a:srgbClr val="14100E"/>
                </a:solidFill>
                <a:latin typeface="Helvetica Neue"/>
              </a:rPr>
              <a:t>₹ 1.20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265176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47F"/>
                </a:solidFill>
                <a:latin typeface="Helvetica Neue"/>
              </a:rPr>
              <a:t>8k input + 2k output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4100E"/>
                </a:solidFill>
                <a:latin typeface="Helvetica Neue"/>
              </a:rPr>
              <a:t>Edge TTS narration (free)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3108960"/>
            <a:ext cx="1645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>
                <a:solidFill>
                  <a:srgbClr val="14100E"/>
                </a:solidFill>
                <a:latin typeface="Helvetica Neue"/>
              </a:rPr>
              <a:t>₹ 0.00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310896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47F"/>
                </a:solidFill>
                <a:latin typeface="Helvetica Neue"/>
              </a:rPr>
              <a:t>Microsoft Edge TTS via public endpoint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56616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4100E"/>
                </a:solidFill>
                <a:latin typeface="Helvetica Neue"/>
              </a:rPr>
              <a:t>Stock images (Pexels + Pixabay free API)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566160"/>
            <a:ext cx="1645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>
                <a:solidFill>
                  <a:srgbClr val="14100E"/>
                </a:solidFill>
                <a:latin typeface="Helvetica Neue"/>
              </a:rPr>
              <a:t>₹ 0.00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356616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47F"/>
                </a:solidFill>
                <a:latin typeface="Helvetica Neue"/>
              </a:rPr>
              <a:t>Allowlist-restricted to clinically appropriate stock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2336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4100E"/>
                </a:solidFill>
                <a:latin typeface="Helvetica Neue"/>
              </a:rPr>
              <a:t>Remotion render (GitHub Actions free tier)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023360"/>
            <a:ext cx="1645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>
                <a:solidFill>
                  <a:srgbClr val="14100E"/>
                </a:solidFill>
                <a:latin typeface="Helvetica Neue"/>
              </a:rPr>
              <a:t>₹ 0.00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402336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47F"/>
                </a:solidFill>
                <a:latin typeface="Helvetica Neue"/>
              </a:rPr>
              <a:t>~3 min compute / item, 2,000 free min/month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48056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4100E"/>
                </a:solidFill>
                <a:latin typeface="Helvetica Neue"/>
              </a:rPr>
              <a:t>Vercel Blob (Mumbai edge cache)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480560"/>
            <a:ext cx="1645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>
                <a:solidFill>
                  <a:srgbClr val="14100E"/>
                </a:solidFill>
                <a:latin typeface="Helvetica Neue"/>
              </a:rPr>
              <a:t>₹ 1.80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448056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47F"/>
                </a:solidFill>
                <a:latin typeface="Helvetica Neue"/>
              </a:rPr>
              <a:t>20 MB per long-form video, 6 GB free tier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93776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4100E"/>
                </a:solidFill>
                <a:latin typeface="Helvetica Neue"/>
              </a:rPr>
              <a:t>Meta + YouTube publish APIs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4937760"/>
            <a:ext cx="1645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>
                <a:solidFill>
                  <a:srgbClr val="14100E"/>
                </a:solidFill>
                <a:latin typeface="Helvetica Neue"/>
              </a:rPr>
              <a:t>₹ 0.00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493776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47F"/>
                </a:solidFill>
                <a:latin typeface="Helvetica Neue"/>
              </a:rPr>
              <a:t>Both free for the volumes we operate 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39496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6A4B"/>
                </a:solidFill>
                <a:latin typeface="Helvetica Neue"/>
              </a:rPr>
              <a:t>Total marginal cost / explainer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5394960"/>
            <a:ext cx="1645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>
                <a:solidFill>
                  <a:srgbClr val="C96A4B"/>
                </a:solidFill>
                <a:latin typeface="Helvetica Neue"/>
              </a:rPr>
              <a:t>₹ 3.00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539496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47F"/>
                </a:solidFill>
                <a:latin typeface="Helvetica Neue"/>
              </a:rPr>
              <a:t>Compare to ₹ 5,000-15,000 for a freelance clinician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47F"/>
                </a:solidFill>
                <a:latin typeface="Helvetica Neue"/>
              </a:rPr>
              <a:t>Intimacy &amp; Sex Therapy Library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8C847F"/>
                </a:solidFill>
                <a:latin typeface="Helvetica Neue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E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48640"/>
            <a:ext cx="548640" cy="73152"/>
          </a:xfrm>
          <a:prstGeom prst="rect">
            <a:avLst/>
          </a:prstGeom>
          <a:solidFill>
            <a:srgbClr val="C96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6A4B"/>
                </a:solidFill>
                <a:latin typeface="Helvetica Neue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4100E"/>
                </a:solidFill>
                <a:latin typeface="Georgia"/>
              </a:rPr>
              <a:t>Three horizons, all building on what's already shipped.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51760"/>
            <a:ext cx="3657600" cy="3383280"/>
          </a:xfrm>
          <a:prstGeom prst="roundRect">
            <a:avLst>
              <a:gd name="adj" fmla="val 6000"/>
            </a:avLst>
          </a:prstGeom>
          <a:solidFill>
            <a:srgbClr val="FFF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88036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3F7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90779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BF3"/>
                </a:solidFill>
                <a:latin typeface="Helvetica Neue"/>
              </a:rPr>
              <a:t>Q3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52044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4100E"/>
                </a:solidFill>
                <a:latin typeface="Georgia"/>
              </a:rPr>
              <a:t>Stabilise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206240"/>
            <a:ext cx="32918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332E"/>
                </a:solidFill>
                <a:latin typeface="Helvetica Neue"/>
              </a:rPr>
              <a:t>Newsletter (Buttondown live) → first 1k subs.</a:t>
            </a:r>
          </a:p>
          <a:p>
            <a:pPr algn="l"/>
            <a:r>
              <a:rPr sz="1100" b="0">
                <a:solidFill>
                  <a:srgbClr val="3A332E"/>
                </a:solidFill>
                <a:latin typeface="Helvetica Neue"/>
              </a:rPr>
              <a:t>Multilingual: Hindi + Tamil + Bengali via NLLB-200.</a:t>
            </a:r>
          </a:p>
          <a:p>
            <a:pPr algn="l"/>
            <a:r>
              <a:rPr sz="1100" b="0">
                <a:solidFill>
                  <a:srgbClr val="3A332E"/>
                </a:solidFill>
                <a:latin typeface="Helvetica Neue"/>
              </a:rPr>
              <a:t>Clinician marketplace MVP — book directly through the catalog.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651760"/>
            <a:ext cx="3657600" cy="3383280"/>
          </a:xfrm>
          <a:prstGeom prst="roundRect">
            <a:avLst>
              <a:gd name="adj" fmla="val 6000"/>
            </a:avLst>
          </a:prstGeom>
          <a:solidFill>
            <a:srgbClr val="FFF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617720" y="288036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6B4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290779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BF3"/>
                </a:solidFill>
                <a:latin typeface="Helvetica Neue"/>
              </a:rPr>
              <a:t>Q4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52044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4100E"/>
                </a:solidFill>
                <a:latin typeface="Georgia"/>
              </a:rPr>
              <a:t>Grow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4206240"/>
            <a:ext cx="32918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332E"/>
                </a:solidFill>
                <a:latin typeface="Helvetica Neue"/>
              </a:rPr>
              <a:t>AASECT and ISSWSH content partnerships.</a:t>
            </a:r>
          </a:p>
          <a:p>
            <a:pPr algn="l"/>
            <a:r>
              <a:rPr sz="1100" b="0">
                <a:solidFill>
                  <a:srgbClr val="3A332E"/>
                </a:solidFill>
                <a:latin typeface="Helvetica Neue"/>
              </a:rPr>
              <a:t>Mobile-first Companion app on Android (TWA shell, same backend).</a:t>
            </a:r>
          </a:p>
          <a:p>
            <a:pPr algn="l"/>
            <a:r>
              <a:rPr sz="1100" b="0">
                <a:solidFill>
                  <a:srgbClr val="3A332E"/>
                </a:solidFill>
                <a:latin typeface="Helvetica Neue"/>
              </a:rPr>
              <a:t>Anonymous group-therapy waiting rooms inside the platform.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2651760"/>
            <a:ext cx="3657600" cy="3383280"/>
          </a:xfrm>
          <a:prstGeom prst="roundRect">
            <a:avLst>
              <a:gd name="adj" fmla="val 6000"/>
            </a:avLst>
          </a:prstGeom>
          <a:solidFill>
            <a:srgbClr val="FFF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58200" y="288036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C96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58200" y="290779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BF3"/>
                </a:solidFill>
                <a:latin typeface="Helvetica Neue"/>
              </a:rPr>
              <a:t>Q1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52044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4100E"/>
                </a:solidFill>
                <a:latin typeface="Georgia"/>
              </a:rPr>
              <a:t>Monetise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4206240"/>
            <a:ext cx="32918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332E"/>
                </a:solidFill>
                <a:latin typeface="Helvetica Neue"/>
              </a:rPr>
              <a:t>Clinician subscription (₹ 999 / mo) for patient-share kits.</a:t>
            </a:r>
          </a:p>
          <a:p>
            <a:pPr algn="l"/>
            <a:r>
              <a:rPr sz="1100" b="0">
                <a:solidFill>
                  <a:srgbClr val="3A332E"/>
                </a:solidFill>
                <a:latin typeface="Helvetica Neue"/>
              </a:rPr>
              <a:t>B2B licensing to insurers and EAP providers.</a:t>
            </a:r>
          </a:p>
          <a:p>
            <a:pPr algn="l"/>
            <a:r>
              <a:rPr sz="1100" b="0">
                <a:solidFill>
                  <a:srgbClr val="3A332E"/>
                </a:solidFill>
                <a:latin typeface="Helvetica Neue"/>
              </a:rPr>
              <a:t>Sponsored research summaries (clearly labelled, never paid placements).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47F"/>
                </a:solidFill>
                <a:latin typeface="Helvetica Neue"/>
              </a:rPr>
              <a:t>Intimacy &amp; Sex Therapy Library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8C847F"/>
                </a:solidFill>
                <a:latin typeface="Helvetica Neue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E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48640"/>
            <a:ext cx="548640" cy="73152"/>
          </a:xfrm>
          <a:prstGeom prst="rect">
            <a:avLst/>
          </a:prstGeom>
          <a:solidFill>
            <a:srgbClr val="C96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6A4B"/>
                </a:solidFill>
                <a:latin typeface="Helvetica Neue"/>
              </a:rPr>
              <a:t>TEAM + ADVISORS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100E"/>
                </a:solidFill>
                <a:latin typeface="Georgia"/>
              </a:rPr>
              <a:t>Product-led founder, clinician-gated content.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743200"/>
            <a:ext cx="3657600" cy="3291840"/>
          </a:xfrm>
          <a:prstGeom prst="roundRect">
            <a:avLst>
              <a:gd name="adj" fmla="val 6000"/>
            </a:avLst>
          </a:prstGeom>
          <a:solidFill>
            <a:srgbClr val="FFF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971800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3F7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99923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BF3"/>
                </a:solidFill>
                <a:latin typeface="Helvetica Neue"/>
              </a:rPr>
              <a:t>Founder /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611880"/>
            <a:ext cx="329184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3A332E"/>
                </a:solidFill>
                <a:latin typeface="Helvetica Neue"/>
              </a:rPr>
              <a:t>Aritra De</a:t>
            </a:r>
          </a:p>
          <a:p>
            <a:pPr algn="l"/>
            <a:r>
              <a:rPr sz="1300" b="0">
                <a:solidFill>
                  <a:srgbClr val="3A332E"/>
                </a:solidFill>
                <a:latin typeface="Helvetica Neue"/>
              </a:rPr>
              <a:t>Product + full-stack engineer.</a:t>
            </a:r>
          </a:p>
          <a:p>
            <a:pPr algn="l"/>
            <a:r>
              <a:rPr sz="1300" b="0">
                <a:solidFill>
                  <a:srgbClr val="3A332E"/>
                </a:solidFill>
                <a:latin typeface="Helvetica Neue"/>
              </a:rPr>
              <a:t>Built the engine; runs operations.</a:t>
            </a:r>
          </a:p>
          <a:p>
            <a:pPr algn="l"/>
            <a:r>
              <a:rPr sz="1300" b="0">
                <a:solidFill>
                  <a:srgbClr val="3A332E"/>
                </a:solidFill>
                <a:latin typeface="Helvetica Neue"/>
              </a:rPr>
              <a:t>Final call on architecture and brand.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743200"/>
            <a:ext cx="3657600" cy="3291840"/>
          </a:xfrm>
          <a:prstGeom prst="roundRect">
            <a:avLst>
              <a:gd name="adj" fmla="val 6000"/>
            </a:avLst>
          </a:prstGeom>
          <a:solidFill>
            <a:srgbClr val="FFF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17720" y="2971800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6B4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299923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BF3"/>
                </a:solidFill>
                <a:latin typeface="Helvetica Neue"/>
              </a:rPr>
              <a:t>Clinical 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3611880"/>
            <a:ext cx="329184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3A332E"/>
                </a:solidFill>
                <a:latin typeface="Helvetica Neue"/>
              </a:rPr>
              <a:t>Engages credentialed sex therapists</a:t>
            </a:r>
          </a:p>
          <a:p>
            <a:pPr algn="l"/>
            <a:r>
              <a:rPr sz="1300" b="0">
                <a:solidFill>
                  <a:srgbClr val="3A332E"/>
                </a:solidFill>
                <a:latin typeface="Helvetica Neue"/>
              </a:rPr>
              <a:t>(AASECT-aligned standards) for every</a:t>
            </a:r>
          </a:p>
          <a:p>
            <a:pPr algn="l"/>
            <a:r>
              <a:rPr sz="1300" b="0">
                <a:solidFill>
                  <a:srgbClr val="3A332E"/>
                </a:solidFill>
                <a:latin typeface="Helvetica Neue"/>
              </a:rPr>
              <a:t>published explainer. The library does</a:t>
            </a:r>
          </a:p>
          <a:p>
            <a:pPr algn="l"/>
            <a:r>
              <a:rPr sz="1300" b="0">
                <a:solidFill>
                  <a:srgbClr val="3A332E"/>
                </a:solidFill>
                <a:latin typeface="Helvetica Neue"/>
              </a:rPr>
              <a:t>not publish unreviewed material.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2743200"/>
            <a:ext cx="3657600" cy="3291840"/>
          </a:xfrm>
          <a:prstGeom prst="roundRect">
            <a:avLst>
              <a:gd name="adj" fmla="val 6000"/>
            </a:avLst>
          </a:prstGeom>
          <a:solidFill>
            <a:srgbClr val="FFF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58200" y="2971800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C96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58200" y="299923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BF3"/>
                </a:solidFill>
                <a:latin typeface="Helvetica Neue"/>
              </a:rPr>
              <a:t>Editorial review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3611880"/>
            <a:ext cx="329184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3A332E"/>
                </a:solidFill>
                <a:latin typeface="Helvetica Neue"/>
              </a:rPr>
              <a:t>Second-stage human gate before any</a:t>
            </a:r>
          </a:p>
          <a:p>
            <a:pPr algn="l"/>
            <a:r>
              <a:rPr sz="1300" b="0">
                <a:solidFill>
                  <a:srgbClr val="3A332E"/>
                </a:solidFill>
                <a:latin typeface="Helvetica Neue"/>
              </a:rPr>
              <a:t>post goes live: factual accuracy,</a:t>
            </a:r>
          </a:p>
          <a:p>
            <a:pPr algn="l"/>
            <a:r>
              <a:rPr sz="1300" b="0">
                <a:solidFill>
                  <a:srgbClr val="3A332E"/>
                </a:solidFill>
                <a:latin typeface="Helvetica Neue"/>
              </a:rPr>
              <a:t>tone, India-context, links sanity-checked.</a:t>
            </a:r>
          </a:p>
          <a:p>
            <a:pPr algn="l"/>
            <a:r>
              <a:rPr sz="1300" b="0">
                <a:solidFill>
                  <a:srgbClr val="3A332E"/>
                </a:solidFill>
                <a:latin typeface="Helvetica Neue"/>
              </a:rPr>
              <a:t>Never auto-published.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47F"/>
                </a:solidFill>
                <a:latin typeface="Helvetica Neue"/>
              </a:rPr>
              <a:t>Intimacy &amp; Sex Therapy Library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8C847F"/>
                </a:solidFill>
                <a:latin typeface="Helvetica Neue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E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48640"/>
            <a:ext cx="548640" cy="73152"/>
          </a:xfrm>
          <a:prstGeom prst="rect">
            <a:avLst/>
          </a:prstGeom>
          <a:solidFill>
            <a:srgbClr val="C96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6A4B"/>
                </a:solidFill>
                <a:latin typeface="Helvetica Neue"/>
              </a:rP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4100E"/>
                </a:solidFill>
                <a:latin typeface="Georgia"/>
              </a:rPr>
              <a:t>We're not asking for capital today.</a:t>
            </a:r>
          </a:p>
          <a:p>
            <a:pPr algn="l"/>
            <a:r>
              <a:rPr sz="3000" b="1">
                <a:solidFill>
                  <a:srgbClr val="14100E"/>
                </a:solidFill>
                <a:latin typeface="Georgia"/>
              </a:rPr>
              <a:t>We're asking for two things money can't buy: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C96A4B"/>
                </a:solidFill>
                <a:latin typeface="Georgia"/>
              </a:rPr>
              <a:t>01 — Clinical advisors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3A332E"/>
                </a:solidFill>
                <a:latin typeface="Helvetica Neue"/>
              </a:rPr>
              <a:t>Sex therapists, OB-GYNs, andrologists, couples therapists.</a:t>
            </a:r>
          </a:p>
          <a:p>
            <a:pPr algn="l"/>
            <a:r>
              <a:rPr sz="1300" b="0">
                <a:solidFill>
                  <a:srgbClr val="3A332E"/>
                </a:solidFill>
                <a:latin typeface="Helvetica Neue"/>
              </a:rPr>
              <a:t>Sign two explainers a month, get co-authorship credit and a</a:t>
            </a:r>
          </a:p>
          <a:p>
            <a:pPr algn="l"/>
            <a:r>
              <a:rPr sz="1300" b="0">
                <a:solidFill>
                  <a:srgbClr val="3A332E"/>
                </a:solidFill>
                <a:latin typeface="Helvetica Neue"/>
              </a:rPr>
              <a:t>permanent link to your practice from every page you sign.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9377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C96A4B"/>
                </a:solidFill>
                <a:latin typeface="Georgia"/>
              </a:rPr>
              <a:t>02 — Distribution partnerships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394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3A332E"/>
                </a:solidFill>
                <a:latin typeface="Helvetica Neue"/>
              </a:rPr>
              <a:t>AASECT, ISSWSH, Indian medical colleges, and EAP providers</a:t>
            </a:r>
          </a:p>
          <a:p>
            <a:pPr algn="l"/>
            <a:r>
              <a:rPr sz="1300" b="0">
                <a:solidFill>
                  <a:srgbClr val="3A332E"/>
                </a:solidFill>
                <a:latin typeface="Helvetica Neue"/>
              </a:rPr>
              <a:t>who want a credible asset to give patients between sessions.</a:t>
            </a:r>
          </a:p>
          <a:p>
            <a:pPr algn="l"/>
            <a:r>
              <a:rPr sz="1300" b="0">
                <a:solidFill>
                  <a:srgbClr val="3A332E"/>
                </a:solidFill>
                <a:latin typeface="Helvetica Neue"/>
              </a:rPr>
              <a:t>Co-branding is on the table; revenue isn't required.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47F"/>
                </a:solidFill>
                <a:latin typeface="Helvetica Neue"/>
              </a:rPr>
              <a:t>Intimacy &amp; Sex Therapy Library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8C847F"/>
                </a:solidFill>
                <a:latin typeface="Helvetica Neue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E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37744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200" b="1">
                <a:solidFill>
                  <a:srgbClr val="14100E"/>
                </a:solidFill>
                <a:latin typeface="Georgia"/>
              </a:rPr>
              <a:t>Adults in India deserve</a:t>
            </a:r>
          </a:p>
          <a:p>
            <a:pPr algn="ctr"/>
            <a:r>
              <a:rPr sz="4200" b="1">
                <a:solidFill>
                  <a:srgbClr val="14100E"/>
                </a:solidFill>
                <a:latin typeface="Georgia"/>
              </a:rPr>
              <a:t>better sex-health information.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233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0">
                <a:solidFill>
                  <a:srgbClr val="3A332E"/>
                </a:solidFill>
                <a:latin typeface="Georgia"/>
              </a:rPr>
              <a:t>We're already shipping it. Let's make it reach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2120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C96A4B"/>
                </a:solidFill>
                <a:latin typeface="Helvetica Neue"/>
              </a:rPr>
              <a:t>intimacy-and-sex-therapy-library.vercel.app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577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8C847F"/>
                </a:solidFill>
                <a:latin typeface="Helvetica Neue"/>
              </a:rPr>
              <a:t>Pitch contact: aritrajob79@gmail.com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47F"/>
                </a:solidFill>
                <a:latin typeface="Helvetica Neue"/>
              </a:rPr>
              <a:t>Intimacy &amp; Sex Therapy Library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8C847F"/>
                </a:solidFill>
                <a:latin typeface="Helvetica Neue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